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9" d="100"/>
          <a:sy n="119" d="100"/>
        </p:scale>
        <p:origin x="-394" y="2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8175"/>
            <a:ext cx="9144000" cy="4505325"/>
          </a:xfrm>
          <a:custGeom>
            <a:avLst/>
            <a:gdLst/>
            <a:ahLst/>
            <a:cxnLst/>
            <a:rect l="l" t="t" r="r" b="b"/>
            <a:pathLst>
              <a:path w="9144000" h="4505325">
                <a:moveTo>
                  <a:pt x="0" y="4505324"/>
                </a:moveTo>
                <a:lnTo>
                  <a:pt x="9144000" y="4505324"/>
                </a:lnTo>
                <a:lnTo>
                  <a:pt x="9144000" y="0"/>
                </a:lnTo>
                <a:lnTo>
                  <a:pt x="0" y="0"/>
                </a:lnTo>
                <a:lnTo>
                  <a:pt x="0" y="4505324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38175"/>
          </a:xfrm>
          <a:custGeom>
            <a:avLst/>
            <a:gdLst/>
            <a:ahLst/>
            <a:cxnLst/>
            <a:rect l="l" t="t" r="r" b="b"/>
            <a:pathLst>
              <a:path w="9144000" h="638175">
                <a:moveTo>
                  <a:pt x="9144000" y="0"/>
                </a:moveTo>
                <a:lnTo>
                  <a:pt x="0" y="0"/>
                </a:lnTo>
                <a:lnTo>
                  <a:pt x="0" y="638175"/>
                </a:lnTo>
                <a:lnTo>
                  <a:pt x="9144000" y="638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18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8175"/>
            <a:ext cx="9144000" cy="4505325"/>
          </a:xfrm>
          <a:custGeom>
            <a:avLst/>
            <a:gdLst/>
            <a:ahLst/>
            <a:cxnLst/>
            <a:rect l="l" t="t" r="r" b="b"/>
            <a:pathLst>
              <a:path w="9144000" h="4505325">
                <a:moveTo>
                  <a:pt x="0" y="4505324"/>
                </a:moveTo>
                <a:lnTo>
                  <a:pt x="9144000" y="4505324"/>
                </a:lnTo>
                <a:lnTo>
                  <a:pt x="9144000" y="0"/>
                </a:lnTo>
                <a:lnTo>
                  <a:pt x="0" y="0"/>
                </a:lnTo>
                <a:lnTo>
                  <a:pt x="0" y="4505324"/>
                </a:lnTo>
                <a:close/>
              </a:path>
            </a:pathLst>
          </a:custGeom>
          <a:solidFill>
            <a:srgbClr val="D0EE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38175"/>
          </a:xfrm>
          <a:custGeom>
            <a:avLst/>
            <a:gdLst/>
            <a:ahLst/>
            <a:cxnLst/>
            <a:rect l="l" t="t" r="r" b="b"/>
            <a:pathLst>
              <a:path w="9144000" h="638175">
                <a:moveTo>
                  <a:pt x="9144000" y="0"/>
                </a:moveTo>
                <a:lnTo>
                  <a:pt x="0" y="0"/>
                </a:lnTo>
                <a:lnTo>
                  <a:pt x="0" y="638175"/>
                </a:lnTo>
                <a:lnTo>
                  <a:pt x="9144000" y="638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B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377" y="99949"/>
            <a:ext cx="8437244" cy="426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8612" y="801052"/>
            <a:ext cx="8486775" cy="2095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28600" cy="5143500"/>
          </a:xfrm>
          <a:custGeom>
            <a:avLst/>
            <a:gdLst/>
            <a:ahLst/>
            <a:cxnLst/>
            <a:rect l="l" t="t" r="r" b="b"/>
            <a:pathLst>
              <a:path w="228600" h="5143500">
                <a:moveTo>
                  <a:pt x="228600" y="0"/>
                </a:moveTo>
                <a:lnTo>
                  <a:pt x="0" y="0"/>
                </a:lnTo>
                <a:lnTo>
                  <a:pt x="0" y="5143500"/>
                </a:lnTo>
                <a:lnTo>
                  <a:pt x="228600" y="514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018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75" y="366966"/>
            <a:ext cx="28117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0A895"/>
                </a:solidFill>
                <a:latin typeface="Calibri"/>
                <a:cs typeface="Calibri"/>
              </a:rPr>
              <a:t>BCS-</a:t>
            </a:r>
            <a:r>
              <a:rPr sz="1200" dirty="0">
                <a:solidFill>
                  <a:srgbClr val="00A895"/>
                </a:solidFill>
                <a:latin typeface="Calibri"/>
                <a:cs typeface="Calibri"/>
              </a:rPr>
              <a:t>VI(A)</a:t>
            </a:r>
            <a:r>
              <a:rPr sz="1200" spc="240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A895"/>
                </a:solidFill>
                <a:latin typeface="Calibri"/>
                <a:cs typeface="Calibri"/>
              </a:rPr>
              <a:t>·</a:t>
            </a:r>
            <a:r>
              <a:rPr sz="1200" spc="310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A895"/>
                </a:solidFill>
                <a:latin typeface="Calibri"/>
                <a:cs typeface="Calibri"/>
              </a:rPr>
              <a:t>Parallel</a:t>
            </a:r>
            <a:r>
              <a:rPr sz="1200" spc="40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A895"/>
                </a:solidFill>
                <a:latin typeface="Calibri"/>
                <a:cs typeface="Calibri"/>
              </a:rPr>
              <a:t>&amp;</a:t>
            </a:r>
            <a:r>
              <a:rPr sz="1200" spc="-50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A895"/>
                </a:solidFill>
                <a:latin typeface="Calibri"/>
                <a:cs typeface="Calibri"/>
              </a:rPr>
              <a:t>Distributed</a:t>
            </a:r>
            <a:r>
              <a:rPr sz="1200" spc="-15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A895"/>
                </a:solidFill>
                <a:latin typeface="Calibri"/>
                <a:cs typeface="Calibri"/>
              </a:rPr>
              <a:t>Computing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6575" y="1021968"/>
            <a:ext cx="4681855" cy="213550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65"/>
              </a:spcBef>
            </a:pPr>
            <a:r>
              <a:rPr sz="3600" dirty="0">
                <a:solidFill>
                  <a:srgbClr val="1E293A"/>
                </a:solidFill>
              </a:rPr>
              <a:t>Federated</a:t>
            </a:r>
            <a:r>
              <a:rPr sz="3600" spc="-130" dirty="0">
                <a:solidFill>
                  <a:srgbClr val="1E293A"/>
                </a:solidFill>
              </a:rPr>
              <a:t> </a:t>
            </a:r>
            <a:r>
              <a:rPr sz="3600" spc="-10" dirty="0">
                <a:solidFill>
                  <a:srgbClr val="1E293A"/>
                </a:solidFill>
              </a:rPr>
              <a:t>Learning </a:t>
            </a:r>
            <a:r>
              <a:rPr sz="3600" dirty="0">
                <a:solidFill>
                  <a:srgbClr val="1E293A"/>
                </a:solidFill>
              </a:rPr>
              <a:t>Simulation</a:t>
            </a:r>
            <a:r>
              <a:rPr sz="3600" spc="-25" dirty="0">
                <a:solidFill>
                  <a:srgbClr val="1E293A"/>
                </a:solidFill>
              </a:rPr>
              <a:t> </a:t>
            </a:r>
            <a:r>
              <a:rPr sz="3600" spc="-10" dirty="0">
                <a:solidFill>
                  <a:srgbClr val="1E293A"/>
                </a:solidFill>
              </a:rPr>
              <a:t>Using </a:t>
            </a:r>
            <a:r>
              <a:rPr sz="3600" dirty="0">
                <a:solidFill>
                  <a:srgbClr val="1E293A"/>
                </a:solidFill>
              </a:rPr>
              <a:t>Flower</a:t>
            </a:r>
            <a:r>
              <a:rPr sz="3600" spc="-60" dirty="0">
                <a:solidFill>
                  <a:srgbClr val="1E293A"/>
                </a:solidFill>
              </a:rPr>
              <a:t> </a:t>
            </a:r>
            <a:r>
              <a:rPr sz="3600" spc="-10" dirty="0">
                <a:solidFill>
                  <a:srgbClr val="1E293A"/>
                </a:solidFill>
              </a:rPr>
              <a:t>(FLwr)</a:t>
            </a:r>
            <a:endParaRPr sz="3600"/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b="0" i="1" spc="-10" dirty="0">
                <a:solidFill>
                  <a:srgbClr val="00A895"/>
                </a:solidFill>
                <a:latin typeface="Georgia"/>
                <a:cs typeface="Georgia"/>
              </a:rPr>
              <a:t>Framework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0876" y="2014537"/>
            <a:ext cx="2419350" cy="2471831"/>
          </a:xfrm>
          <a:prstGeom prst="rect">
            <a:avLst/>
          </a:prstGeom>
          <a:ln w="12700">
            <a:solidFill>
              <a:srgbClr val="01809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96520" algn="ct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00A895"/>
                </a:solidFill>
                <a:latin typeface="Calibri"/>
                <a:cs typeface="Calibri"/>
              </a:rPr>
              <a:t>Submitted</a:t>
            </a:r>
            <a:r>
              <a:rPr sz="1400" b="1" spc="-70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A895"/>
                </a:solidFill>
                <a:latin typeface="Calibri"/>
                <a:cs typeface="Calibri"/>
              </a:rPr>
              <a:t>By</a:t>
            </a:r>
            <a:endParaRPr sz="1400" dirty="0">
              <a:latin typeface="Calibri"/>
              <a:cs typeface="Calibri"/>
            </a:endParaRPr>
          </a:p>
          <a:p>
            <a:pPr marL="95885" algn="ctr">
              <a:lnSpc>
                <a:spcPct val="100000"/>
              </a:lnSpc>
            </a:pPr>
            <a:endParaRPr lang="fi-FI" sz="1400" dirty="0" smtClean="0">
              <a:solidFill>
                <a:srgbClr val="1E293A"/>
              </a:solidFill>
              <a:latin typeface="Calibri"/>
              <a:cs typeface="Calibri"/>
            </a:endParaRPr>
          </a:p>
          <a:p>
            <a:pPr marL="381635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sz="1400" dirty="0" smtClean="0">
                <a:solidFill>
                  <a:srgbClr val="1E293A"/>
                </a:solidFill>
                <a:latin typeface="Calibri"/>
                <a:cs typeface="Calibri"/>
              </a:rPr>
              <a:t>Malaika</a:t>
            </a:r>
            <a:r>
              <a:rPr lang="fi-FI" sz="1400" spc="-55" dirty="0" smtClean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lang="fi-FI" sz="1400" dirty="0" smtClean="0">
                <a:solidFill>
                  <a:srgbClr val="1E293A"/>
                </a:solidFill>
                <a:latin typeface="Calibri"/>
                <a:cs typeface="Calibri"/>
              </a:rPr>
              <a:t>Arooj</a:t>
            </a:r>
            <a:r>
              <a:rPr lang="fi-FI" sz="1400" spc="-70" dirty="0" smtClean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lang="fi-FI" sz="1400" spc="-20" dirty="0" smtClean="0">
                <a:solidFill>
                  <a:srgbClr val="1E293A"/>
                </a:solidFill>
                <a:latin typeface="Calibri"/>
                <a:cs typeface="Calibri"/>
              </a:rPr>
              <a:t>(057)</a:t>
            </a:r>
            <a:endParaRPr lang="fi-FI" sz="1400" dirty="0" smtClean="0">
              <a:latin typeface="Calibri"/>
              <a:cs typeface="Calibri"/>
            </a:endParaRPr>
          </a:p>
          <a:p>
            <a:pPr marL="285750" indent="-285750" algn="l">
              <a:lnSpc>
                <a:spcPct val="100000"/>
              </a:lnSpc>
              <a:spcBef>
                <a:spcPts val="215"/>
              </a:spcBef>
              <a:buFont typeface="Arial" panose="020B0604020202020204" pitchFamily="34" charset="0"/>
              <a:buChar char="•"/>
            </a:pPr>
            <a:endParaRPr lang="fi-FI" sz="1400" dirty="0" smtClean="0">
              <a:latin typeface="Calibri"/>
              <a:cs typeface="Calibri"/>
            </a:endParaRPr>
          </a:p>
          <a:p>
            <a:pPr marL="38227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sz="1400" dirty="0" smtClean="0">
                <a:solidFill>
                  <a:srgbClr val="1E293A"/>
                </a:solidFill>
                <a:latin typeface="Calibri"/>
                <a:cs typeface="Calibri"/>
              </a:rPr>
              <a:t>Maryam</a:t>
            </a:r>
            <a:r>
              <a:rPr lang="fi-FI" sz="1400" spc="-40" dirty="0" smtClean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lang="fi-FI" sz="1400" spc="-20" dirty="0" smtClean="0">
                <a:solidFill>
                  <a:srgbClr val="1E293A"/>
                </a:solidFill>
                <a:latin typeface="Calibri"/>
                <a:cs typeface="Calibri"/>
              </a:rPr>
              <a:t>(061)</a:t>
            </a:r>
            <a:endParaRPr lang="fi-FI" sz="1400" dirty="0" smtClean="0">
              <a:latin typeface="Calibri"/>
              <a:cs typeface="Calibri"/>
            </a:endParaRPr>
          </a:p>
          <a:p>
            <a:pPr marL="386080" indent="-285750" algn="l">
              <a:lnSpc>
                <a:spcPct val="100000"/>
              </a:lnSpc>
              <a:spcBef>
                <a:spcPts val="1565"/>
              </a:spcBef>
              <a:buFont typeface="Arial" panose="020B0604020202020204" pitchFamily="34" charset="0"/>
              <a:buChar char="•"/>
            </a:pPr>
            <a:r>
              <a:rPr sz="1400" spc="-20" dirty="0" err="1" smtClean="0">
                <a:solidFill>
                  <a:srgbClr val="1E293A"/>
                </a:solidFill>
                <a:latin typeface="Calibri"/>
                <a:cs typeface="Calibri"/>
              </a:rPr>
              <a:t>Tehreem</a:t>
            </a:r>
            <a:r>
              <a:rPr sz="1400" spc="-45" dirty="0" smtClean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Ejaz</a:t>
            </a:r>
            <a:r>
              <a:rPr sz="140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E293A"/>
                </a:solidFill>
                <a:latin typeface="Calibri"/>
                <a:cs typeface="Calibri"/>
              </a:rPr>
              <a:t>(089)</a:t>
            </a:r>
            <a:endParaRPr sz="1400" dirty="0">
              <a:latin typeface="Calibri"/>
              <a:cs typeface="Calibri"/>
            </a:endParaRPr>
          </a:p>
          <a:p>
            <a:pPr marL="285750" indent="-285750" algn="l">
              <a:lnSpc>
                <a:spcPct val="100000"/>
              </a:lnSpc>
              <a:spcBef>
                <a:spcPts val="215"/>
              </a:spcBef>
              <a:buFont typeface="Arial" panose="020B0604020202020204" pitchFamily="34" charset="0"/>
              <a:buChar char="•"/>
            </a:pPr>
            <a:endParaRPr sz="1400" dirty="0">
              <a:latin typeface="Calibri"/>
              <a:cs typeface="Calibri"/>
            </a:endParaRPr>
          </a:p>
          <a:p>
            <a:pPr marL="377825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Zainab</a:t>
            </a:r>
            <a:r>
              <a:rPr sz="14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Saleem</a:t>
            </a:r>
            <a:r>
              <a:rPr sz="14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E293A"/>
                </a:solidFill>
                <a:latin typeface="Calibri"/>
                <a:cs typeface="Calibri"/>
              </a:rPr>
              <a:t>(093)</a:t>
            </a:r>
            <a:endParaRPr sz="1400" dirty="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220"/>
              </a:spcBef>
            </a:pPr>
            <a:endParaRPr sz="1400" dirty="0" smtClean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575" y="4451350"/>
            <a:ext cx="184023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Presentation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 Date:</a:t>
            </a:r>
            <a:r>
              <a:rPr sz="110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2</a:t>
            </a:r>
            <a:r>
              <a:rPr sz="1100" spc="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June,</a:t>
            </a:r>
            <a:r>
              <a:rPr sz="1100" spc="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2026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0551" y="3519487"/>
            <a:ext cx="2400300" cy="1028700"/>
          </a:xfrm>
          <a:prstGeom prst="rect">
            <a:avLst/>
          </a:prstGeom>
          <a:ln w="12700">
            <a:solidFill>
              <a:srgbClr val="01809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5"/>
              </a:spcBef>
            </a:pPr>
            <a:endParaRPr sz="1400">
              <a:latin typeface="Times New Roman"/>
              <a:cs typeface="Times New Roman"/>
            </a:endParaRPr>
          </a:p>
          <a:p>
            <a:pPr marL="112395" algn="ctr">
              <a:lnSpc>
                <a:spcPct val="100000"/>
              </a:lnSpc>
            </a:pPr>
            <a:r>
              <a:rPr sz="1400" b="1" dirty="0">
                <a:solidFill>
                  <a:srgbClr val="00A895"/>
                </a:solidFill>
                <a:latin typeface="Calibri"/>
                <a:cs typeface="Calibri"/>
              </a:rPr>
              <a:t>Submitted</a:t>
            </a:r>
            <a:r>
              <a:rPr sz="1400" b="1" spc="-75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A895"/>
                </a:solidFill>
                <a:latin typeface="Calibri"/>
                <a:cs typeface="Calibri"/>
              </a:rPr>
              <a:t>To</a:t>
            </a:r>
            <a:endParaRPr sz="1400">
              <a:latin typeface="Calibri"/>
              <a:cs typeface="Calibri"/>
            </a:endParaRPr>
          </a:p>
          <a:p>
            <a:pPr marL="116205" algn="ctr">
              <a:lnSpc>
                <a:spcPct val="100000"/>
              </a:lnSpc>
              <a:spcBef>
                <a:spcPts val="1305"/>
              </a:spcBef>
            </a:pP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Mam</a:t>
            </a:r>
            <a:r>
              <a:rPr sz="14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Madiha</a:t>
            </a:r>
            <a:r>
              <a:rPr sz="14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E293A"/>
                </a:solidFill>
                <a:latin typeface="Calibri"/>
                <a:cs typeface="Calibri"/>
              </a:rPr>
              <a:t>Wahid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38175"/>
          </a:xfrm>
          <a:custGeom>
            <a:avLst/>
            <a:gdLst/>
            <a:ahLst/>
            <a:cxnLst/>
            <a:rect l="l" t="t" r="r" b="b"/>
            <a:pathLst>
              <a:path w="9144000" h="638175">
                <a:moveTo>
                  <a:pt x="9144000" y="0"/>
                </a:moveTo>
                <a:lnTo>
                  <a:pt x="0" y="0"/>
                </a:lnTo>
                <a:lnTo>
                  <a:pt x="0" y="638175"/>
                </a:lnTo>
                <a:lnTo>
                  <a:pt x="9144000" y="638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1E293A"/>
                </a:solidFill>
              </a:rPr>
              <a:t>What</a:t>
            </a:r>
            <a:r>
              <a:rPr spc="120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is</a:t>
            </a:r>
            <a:r>
              <a:rPr spc="170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Federated</a:t>
            </a:r>
            <a:r>
              <a:rPr spc="140" dirty="0">
                <a:solidFill>
                  <a:srgbClr val="1E293A"/>
                </a:solidFill>
              </a:rPr>
              <a:t> </a:t>
            </a:r>
            <a:r>
              <a:rPr spc="-10" dirty="0">
                <a:solidFill>
                  <a:srgbClr val="1E293A"/>
                </a:solidFill>
              </a:rPr>
              <a:t>Learning?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075" y="733361"/>
            <a:ext cx="8491601" cy="10906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1950" y="819150"/>
            <a:ext cx="8267700" cy="866775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200025" rIns="0" bIns="0" rtlCol="0">
            <a:spAutoFit/>
          </a:bodyPr>
          <a:lstStyle/>
          <a:p>
            <a:pPr marL="233045" marR="381635">
              <a:lnSpc>
                <a:spcPct val="102899"/>
              </a:lnSpc>
              <a:spcBef>
                <a:spcPts val="1575"/>
              </a:spcBef>
            </a:pPr>
            <a:r>
              <a:rPr sz="1400" i="1" spc="-10" dirty="0">
                <a:solidFill>
                  <a:srgbClr val="1E293A"/>
                </a:solidFill>
                <a:latin typeface="Calibri"/>
                <a:cs typeface="Calibri"/>
              </a:rPr>
              <a:t>Federated</a:t>
            </a:r>
            <a:r>
              <a:rPr sz="1400" i="1" spc="-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Learning</a:t>
            </a:r>
            <a:r>
              <a:rPr sz="1400" i="1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E293A"/>
                </a:solidFill>
                <a:latin typeface="Calibri"/>
                <a:cs typeface="Calibri"/>
              </a:rPr>
              <a:t>(FL)</a:t>
            </a:r>
            <a:r>
              <a:rPr sz="1400" i="1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400" i="1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sz="1400" i="1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privacy-preserving</a:t>
            </a:r>
            <a:r>
              <a:rPr sz="1400" i="1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machine</a:t>
            </a:r>
            <a:r>
              <a:rPr sz="1400" i="1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E293A"/>
                </a:solidFill>
                <a:latin typeface="Calibri"/>
                <a:cs typeface="Calibri"/>
              </a:rPr>
              <a:t>learning</a:t>
            </a:r>
            <a:r>
              <a:rPr sz="1400" i="1" spc="-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paradigm</a:t>
            </a:r>
            <a:r>
              <a:rPr sz="1400" i="1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that</a:t>
            </a:r>
            <a:r>
              <a:rPr sz="1400" i="1" spc="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E293A"/>
                </a:solidFill>
                <a:latin typeface="Calibri"/>
                <a:cs typeface="Calibri"/>
              </a:rPr>
              <a:t>enables</a:t>
            </a:r>
            <a:r>
              <a:rPr sz="1400" i="1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multiple</a:t>
            </a:r>
            <a:r>
              <a:rPr sz="1400" i="1" spc="-10" dirty="0">
                <a:solidFill>
                  <a:srgbClr val="1E293A"/>
                </a:solidFill>
                <a:latin typeface="Calibri"/>
                <a:cs typeface="Calibri"/>
              </a:rPr>
              <a:t> clients</a:t>
            </a:r>
            <a:r>
              <a:rPr sz="1400" i="1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spc="-25" dirty="0">
                <a:solidFill>
                  <a:srgbClr val="1E293A"/>
                </a:solidFill>
                <a:latin typeface="Calibri"/>
                <a:cs typeface="Calibri"/>
              </a:rPr>
              <a:t>to </a:t>
            </a:r>
            <a:r>
              <a:rPr sz="1400" i="1" spc="-10" dirty="0">
                <a:solidFill>
                  <a:srgbClr val="1E293A"/>
                </a:solidFill>
                <a:latin typeface="Calibri"/>
                <a:cs typeface="Calibri"/>
              </a:rPr>
              <a:t>collaboratively</a:t>
            </a:r>
            <a:r>
              <a:rPr sz="1400" i="1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train a global</a:t>
            </a:r>
            <a:r>
              <a:rPr sz="1400" i="1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400" i="1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without</a:t>
            </a:r>
            <a:r>
              <a:rPr sz="1400" i="1" spc="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sharing </a:t>
            </a:r>
            <a:r>
              <a:rPr sz="1400" i="1" spc="-10" dirty="0">
                <a:solidFill>
                  <a:srgbClr val="1E293A"/>
                </a:solidFill>
                <a:latin typeface="Calibri"/>
                <a:cs typeface="Calibri"/>
              </a:rPr>
              <a:t>their</a:t>
            </a:r>
            <a:r>
              <a:rPr sz="1400" i="1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E293A"/>
                </a:solidFill>
                <a:latin typeface="Calibri"/>
                <a:cs typeface="Calibri"/>
              </a:rPr>
              <a:t>raw</a:t>
            </a:r>
            <a:r>
              <a:rPr sz="1400" i="1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E293A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9075" y="1838261"/>
            <a:ext cx="2881630" cy="3262629"/>
            <a:chOff x="219075" y="1838261"/>
            <a:chExt cx="2881630" cy="326262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075" y="1838261"/>
              <a:ext cx="2881376" cy="32623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1950" y="1924049"/>
              <a:ext cx="2657475" cy="3038475"/>
            </a:xfrm>
            <a:custGeom>
              <a:avLst/>
              <a:gdLst/>
              <a:ahLst/>
              <a:cxnLst/>
              <a:rect l="l" t="t" r="r" b="b"/>
              <a:pathLst>
                <a:path w="2657475" h="3038475">
                  <a:moveTo>
                    <a:pt x="2657475" y="0"/>
                  </a:moveTo>
                  <a:lnTo>
                    <a:pt x="0" y="0"/>
                  </a:lnTo>
                  <a:lnTo>
                    <a:pt x="0" y="3038475"/>
                  </a:lnTo>
                  <a:lnTo>
                    <a:pt x="2657475" y="3038475"/>
                  </a:lnTo>
                  <a:lnTo>
                    <a:pt x="2657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2466974"/>
              <a:ext cx="2466975" cy="38100"/>
            </a:xfrm>
            <a:custGeom>
              <a:avLst/>
              <a:gdLst/>
              <a:ahLst/>
              <a:cxnLst/>
              <a:rect l="l" t="t" r="r" b="b"/>
              <a:pathLst>
                <a:path w="2466975" h="38100">
                  <a:moveTo>
                    <a:pt x="246697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466975" y="38100"/>
                  </a:lnTo>
                  <a:lnTo>
                    <a:pt x="2466975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1950" y="1924050"/>
            <a:ext cx="2657475" cy="303847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15"/>
              </a:spcBef>
            </a:pPr>
            <a:endParaRPr sz="1400">
              <a:latin typeface="Times New Roman"/>
              <a:cs typeface="Times New Roman"/>
            </a:endParaRPr>
          </a:p>
          <a:p>
            <a:pPr marL="661035">
              <a:lnSpc>
                <a:spcPct val="100000"/>
              </a:lnSpc>
            </a:pPr>
            <a:r>
              <a:rPr sz="1400" b="1" dirty="0">
                <a:solidFill>
                  <a:srgbClr val="1E293A"/>
                </a:solidFill>
                <a:latin typeface="Georgia"/>
                <a:cs typeface="Georgia"/>
              </a:rPr>
              <a:t>Local</a:t>
            </a:r>
            <a:r>
              <a:rPr sz="1400" b="1" spc="-50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1E293A"/>
                </a:solidFill>
                <a:latin typeface="Georgia"/>
                <a:cs typeface="Georgia"/>
              </a:rPr>
              <a:t>Training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1400">
              <a:latin typeface="Georgia"/>
              <a:cs typeface="Georgia"/>
            </a:endParaRPr>
          </a:p>
          <a:p>
            <a:pPr marL="473075" marR="313690" indent="-286385">
              <a:lnSpc>
                <a:spcPct val="105300"/>
              </a:lnSpc>
              <a:spcBef>
                <a:spcPts val="5"/>
              </a:spcBef>
              <a:buFont typeface="Arial MT"/>
              <a:buChar char="•"/>
              <a:tabLst>
                <a:tab pos="47307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Each</a:t>
            </a:r>
            <a:r>
              <a:rPr sz="1250" spc="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client</a:t>
            </a:r>
            <a:r>
              <a:rPr sz="1250" spc="9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trains</a:t>
            </a:r>
            <a:r>
              <a:rPr sz="1250" spc="10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250" spc="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model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on</a:t>
            </a:r>
            <a:r>
              <a:rPr sz="1250" spc="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its</a:t>
            </a:r>
            <a:r>
              <a:rPr sz="1250" spc="10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E293A"/>
                </a:solidFill>
                <a:latin typeface="Calibri"/>
                <a:cs typeface="Calibri"/>
              </a:rPr>
              <a:t>own</a:t>
            </a:r>
            <a:r>
              <a:rPr sz="1250" b="1" spc="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E293A"/>
                </a:solidFill>
                <a:latin typeface="Calibri"/>
                <a:cs typeface="Calibri"/>
              </a:rPr>
              <a:t>local</a:t>
            </a:r>
            <a:r>
              <a:rPr sz="1250" b="1" spc="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1E293A"/>
                </a:solidFill>
                <a:latin typeface="Calibri"/>
                <a:cs typeface="Calibri"/>
              </a:rPr>
              <a:t>dataset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without</a:t>
            </a:r>
            <a:r>
              <a:rPr sz="1250" spc="1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sharing</a:t>
            </a:r>
            <a:r>
              <a:rPr sz="1250" spc="9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raw</a:t>
            </a:r>
            <a:r>
              <a:rPr sz="1250" spc="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E293A"/>
                </a:solidFill>
                <a:latin typeface="Calibri"/>
                <a:cs typeface="Calibri"/>
              </a:rPr>
              <a:t>data.</a:t>
            </a:r>
            <a:endParaRPr sz="1250">
              <a:latin typeface="Calibri"/>
              <a:cs typeface="Calibri"/>
            </a:endParaRPr>
          </a:p>
          <a:p>
            <a:pPr marL="473075" marR="394335" indent="-286385">
              <a:lnSpc>
                <a:spcPct val="102699"/>
              </a:lnSpc>
              <a:spcBef>
                <a:spcPts val="35"/>
              </a:spcBef>
              <a:buFont typeface="Arial MT"/>
              <a:buChar char="•"/>
              <a:tabLst>
                <a:tab pos="47307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Training</a:t>
            </a:r>
            <a:r>
              <a:rPr sz="1250" spc="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happens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independently</a:t>
            </a:r>
            <a:r>
              <a:rPr sz="1250" spc="1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on</a:t>
            </a:r>
            <a:r>
              <a:rPr sz="1250" spc="1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multiple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clients</a:t>
            </a:r>
            <a:r>
              <a:rPr sz="1250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in</a:t>
            </a:r>
            <a:r>
              <a:rPr sz="1250" spc="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parallel.</a:t>
            </a:r>
            <a:endParaRPr sz="1250">
              <a:latin typeface="Calibri"/>
              <a:cs typeface="Calibri"/>
            </a:endParaRPr>
          </a:p>
          <a:p>
            <a:pPr marL="473075" marR="248920" indent="-286385">
              <a:lnSpc>
                <a:spcPct val="105200"/>
              </a:lnSpc>
              <a:buFont typeface="Arial MT"/>
              <a:buChar char="•"/>
              <a:tabLst>
                <a:tab pos="47307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Only</a:t>
            </a:r>
            <a:r>
              <a:rPr sz="1250" spc="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updated</a:t>
            </a:r>
            <a:r>
              <a:rPr sz="1250" spc="1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250" spc="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weights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are</a:t>
            </a:r>
            <a:r>
              <a:rPr sz="1250" spc="10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prepared</a:t>
            </a:r>
            <a:r>
              <a:rPr sz="1250" spc="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for</a:t>
            </a:r>
            <a:r>
              <a:rPr sz="1250" spc="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sending</a:t>
            </a:r>
            <a:r>
              <a:rPr sz="1250" spc="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endParaRPr sz="1250">
              <a:latin typeface="Calibri"/>
              <a:cs typeface="Calibri"/>
            </a:endParaRPr>
          </a:p>
          <a:p>
            <a:pPr marL="473075">
              <a:lnSpc>
                <a:spcPct val="100000"/>
              </a:lnSpc>
              <a:spcBef>
                <a:spcPts val="80"/>
              </a:spcBef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250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server.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57525" y="1838261"/>
            <a:ext cx="2872105" cy="3262629"/>
            <a:chOff x="3057525" y="1838261"/>
            <a:chExt cx="2872105" cy="3262629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7525" y="1838261"/>
              <a:ext cx="2871851" cy="32623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00400" y="1924049"/>
              <a:ext cx="2647950" cy="3038475"/>
            </a:xfrm>
            <a:custGeom>
              <a:avLst/>
              <a:gdLst/>
              <a:ahLst/>
              <a:cxnLst/>
              <a:rect l="l" t="t" r="r" b="b"/>
              <a:pathLst>
                <a:path w="2647950" h="3038475">
                  <a:moveTo>
                    <a:pt x="2647950" y="0"/>
                  </a:moveTo>
                  <a:lnTo>
                    <a:pt x="0" y="0"/>
                  </a:lnTo>
                  <a:lnTo>
                    <a:pt x="0" y="3038475"/>
                  </a:lnTo>
                  <a:lnTo>
                    <a:pt x="2647950" y="3038475"/>
                  </a:lnTo>
                  <a:lnTo>
                    <a:pt x="2647950" y="0"/>
                  </a:lnTo>
                  <a:close/>
                </a:path>
              </a:pathLst>
            </a:custGeom>
            <a:solidFill>
              <a:srgbClr val="ABD7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03015" y="2162492"/>
            <a:ext cx="14573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E293A"/>
                </a:solidFill>
                <a:latin typeface="Georgia"/>
                <a:cs typeface="Georgia"/>
              </a:rPr>
              <a:t>Weight</a:t>
            </a:r>
            <a:r>
              <a:rPr sz="1400" b="1" spc="-30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1E293A"/>
                </a:solidFill>
                <a:latin typeface="Georgia"/>
                <a:cs typeface="Georgia"/>
              </a:rPr>
              <a:t>Sharing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95650" y="2486025"/>
            <a:ext cx="2466975" cy="38100"/>
          </a:xfrm>
          <a:custGeom>
            <a:avLst/>
            <a:gdLst/>
            <a:ahLst/>
            <a:cxnLst/>
            <a:rect l="l" t="t" r="r" b="b"/>
            <a:pathLst>
              <a:path w="2466975" h="38100">
                <a:moveTo>
                  <a:pt x="2466975" y="0"/>
                </a:moveTo>
                <a:lnTo>
                  <a:pt x="0" y="0"/>
                </a:lnTo>
                <a:lnTo>
                  <a:pt x="0" y="38100"/>
                </a:lnTo>
                <a:lnTo>
                  <a:pt x="2466975" y="38100"/>
                </a:lnTo>
                <a:lnTo>
                  <a:pt x="2466975" y="0"/>
                </a:lnTo>
                <a:close/>
              </a:path>
            </a:pathLst>
          </a:custGeom>
          <a:solidFill>
            <a:srgbClr val="00A8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366515" y="2776537"/>
            <a:ext cx="22015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After</a:t>
            </a:r>
            <a:r>
              <a:rPr sz="140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local</a:t>
            </a:r>
            <a:r>
              <a:rPr sz="14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training,</a:t>
            </a:r>
            <a:r>
              <a:rPr sz="140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clients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2520" y="2996247"/>
            <a:ext cx="2254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send</a:t>
            </a:r>
            <a:r>
              <a:rPr sz="14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400" b="1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E293A"/>
                </a:solidFill>
                <a:latin typeface="Calibri"/>
                <a:cs typeface="Calibri"/>
              </a:rPr>
              <a:t>weights/gradients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6515" y="3206178"/>
            <a:ext cx="2379345" cy="1311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400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central</a:t>
            </a:r>
            <a:r>
              <a:rPr sz="14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server.</a:t>
            </a:r>
            <a:endParaRPr sz="1400">
              <a:latin typeface="Calibri"/>
              <a:cs typeface="Calibri"/>
            </a:endParaRPr>
          </a:p>
          <a:p>
            <a:pPr marL="298450" marR="113030" indent="-286385">
              <a:lnSpc>
                <a:spcPts val="1650"/>
              </a:lnSpc>
              <a:spcBef>
                <a:spcPts val="13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No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 raw</a:t>
            </a:r>
            <a:r>
              <a:rPr sz="1400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4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4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transmitted,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only</a:t>
            </a:r>
            <a:r>
              <a:rPr sz="14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learned</a:t>
            </a:r>
            <a:r>
              <a:rPr sz="140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parameters.</a:t>
            </a:r>
            <a:endParaRPr sz="1400">
              <a:latin typeface="Calibri"/>
              <a:cs typeface="Calibri"/>
            </a:endParaRPr>
          </a:p>
          <a:p>
            <a:pPr marL="298450" indent="-285750">
              <a:lnSpc>
                <a:spcPts val="1605"/>
              </a:lnSpc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This</a:t>
            </a:r>
            <a:r>
              <a:rPr sz="14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reduces</a:t>
            </a:r>
            <a:r>
              <a:rPr sz="14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communication</a:t>
            </a:r>
            <a:endParaRPr sz="1400">
              <a:latin typeface="Calibri"/>
              <a:cs typeface="Calibri"/>
            </a:endParaRPr>
          </a:p>
          <a:p>
            <a:pPr marL="298450" marR="356870">
              <a:lnSpc>
                <a:spcPts val="1650"/>
              </a:lnSpc>
              <a:spcBef>
                <a:spcPts val="125"/>
              </a:spcBef>
            </a:pP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cost</a:t>
            </a:r>
            <a:r>
              <a:rPr sz="140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preserves</a:t>
            </a:r>
            <a:r>
              <a:rPr sz="140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E293A"/>
                </a:solidFill>
                <a:latin typeface="Calibri"/>
                <a:cs typeface="Calibri"/>
              </a:rPr>
              <a:t>data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privacy.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95975" y="1838261"/>
            <a:ext cx="2843530" cy="3262629"/>
            <a:chOff x="5895975" y="1838261"/>
            <a:chExt cx="2843530" cy="3262629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5975" y="1838261"/>
              <a:ext cx="2843276" cy="32623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038850" y="1924049"/>
              <a:ext cx="2619375" cy="3038475"/>
            </a:xfrm>
            <a:custGeom>
              <a:avLst/>
              <a:gdLst/>
              <a:ahLst/>
              <a:cxnLst/>
              <a:rect l="l" t="t" r="r" b="b"/>
              <a:pathLst>
                <a:path w="2619375" h="3038475">
                  <a:moveTo>
                    <a:pt x="2619375" y="0"/>
                  </a:moveTo>
                  <a:lnTo>
                    <a:pt x="0" y="0"/>
                  </a:lnTo>
                  <a:lnTo>
                    <a:pt x="0" y="3038475"/>
                  </a:lnTo>
                  <a:lnTo>
                    <a:pt x="2619375" y="3038475"/>
                  </a:lnTo>
                  <a:lnTo>
                    <a:pt x="2619375" y="0"/>
                  </a:lnTo>
                  <a:close/>
                </a:path>
              </a:pathLst>
            </a:custGeom>
            <a:solidFill>
              <a:srgbClr val="5BBCC8">
                <a:alpha val="8313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15050" y="2495549"/>
              <a:ext cx="2476500" cy="38100"/>
            </a:xfrm>
            <a:custGeom>
              <a:avLst/>
              <a:gdLst/>
              <a:ahLst/>
              <a:cxnLst/>
              <a:rect l="l" t="t" r="r" b="b"/>
              <a:pathLst>
                <a:path w="2476500" h="38100">
                  <a:moveTo>
                    <a:pt x="24765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476500" y="38100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38850" y="1924050"/>
            <a:ext cx="2619375" cy="303847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marL="441325">
              <a:lnSpc>
                <a:spcPct val="100000"/>
              </a:lnSpc>
            </a:pPr>
            <a:r>
              <a:rPr sz="1400" b="1" dirty="0">
                <a:solidFill>
                  <a:srgbClr val="1E293A"/>
                </a:solidFill>
                <a:latin typeface="Georgia"/>
                <a:cs typeface="Georgia"/>
              </a:rPr>
              <a:t>Global</a:t>
            </a:r>
            <a:r>
              <a:rPr sz="1400" b="1" spc="-2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1E293A"/>
                </a:solidFill>
                <a:latin typeface="Georgia"/>
                <a:cs typeface="Georgia"/>
              </a:rPr>
              <a:t>Aggregation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400">
              <a:latin typeface="Georgia"/>
              <a:cs typeface="Georgia"/>
            </a:endParaRPr>
          </a:p>
          <a:p>
            <a:pPr marL="471170" marR="354965" indent="-286385">
              <a:lnSpc>
                <a:spcPct val="100499"/>
              </a:lnSpc>
              <a:buFont typeface="Arial MT"/>
              <a:buChar char="•"/>
              <a:tabLst>
                <a:tab pos="471170" algn="l"/>
              </a:tabLst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Server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aggregates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all</a:t>
            </a:r>
            <a:r>
              <a:rPr sz="1200" spc="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client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updates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into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sz="120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single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improved</a:t>
            </a:r>
            <a:r>
              <a:rPr sz="1200" spc="-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global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2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using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FThe</a:t>
            </a:r>
            <a:r>
              <a:rPr sz="12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server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collects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weights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from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all</a:t>
            </a:r>
            <a:r>
              <a:rPr sz="1200" spc="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participating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clients.</a:t>
            </a:r>
            <a:endParaRPr sz="1200">
              <a:latin typeface="Calibri"/>
              <a:cs typeface="Calibri"/>
            </a:endParaRPr>
          </a:p>
          <a:p>
            <a:pPr marL="471170" marR="565785" indent="-286385">
              <a:lnSpc>
                <a:spcPts val="1430"/>
              </a:lnSpc>
              <a:spcBef>
                <a:spcPts val="45"/>
              </a:spcBef>
              <a:buFont typeface="Arial MT"/>
              <a:buChar char="•"/>
              <a:tabLst>
                <a:tab pos="471170" algn="l"/>
              </a:tabLst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It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aggregates</a:t>
            </a:r>
            <a:r>
              <a:rPr sz="120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them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using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algorithms</a:t>
            </a:r>
            <a:r>
              <a:rPr sz="1200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like</a:t>
            </a:r>
            <a:r>
              <a:rPr sz="12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FedAvg</a:t>
            </a:r>
            <a:r>
              <a:rPr sz="1200" b="1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1E293A"/>
                </a:solidFill>
                <a:latin typeface="Calibri"/>
                <a:cs typeface="Calibri"/>
              </a:rPr>
              <a:t>or 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FedProx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471170" marR="396240" indent="-286385" algn="just">
              <a:lnSpc>
                <a:spcPts val="1430"/>
              </a:lnSpc>
              <a:spcBef>
                <a:spcPts val="65"/>
              </a:spcBef>
              <a:buFont typeface="Arial MT"/>
              <a:buChar char="•"/>
              <a:tabLst>
                <a:tab pos="471170" algn="l"/>
                <a:tab pos="473075" algn="l"/>
              </a:tabLst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	The</a:t>
            </a:r>
            <a:r>
              <a:rPr sz="12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updated</a:t>
            </a:r>
            <a:r>
              <a:rPr sz="120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global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is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then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sent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back</a:t>
            </a:r>
            <a:r>
              <a:rPr sz="12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clients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for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20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next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round.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638175"/>
              <a:ext cx="9144000" cy="4505325"/>
            </a:xfrm>
            <a:custGeom>
              <a:avLst/>
              <a:gdLst/>
              <a:ahLst/>
              <a:cxnLst/>
              <a:rect l="l" t="t" r="r" b="b"/>
              <a:pathLst>
                <a:path w="9144000" h="4505325">
                  <a:moveTo>
                    <a:pt x="0" y="4505324"/>
                  </a:moveTo>
                  <a:lnTo>
                    <a:pt x="9144000" y="450532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505324"/>
                  </a:lnTo>
                  <a:close/>
                </a:path>
              </a:pathLst>
            </a:custGeom>
            <a:solidFill>
              <a:srgbClr val="D0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38175"/>
            </a:xfrm>
            <a:custGeom>
              <a:avLst/>
              <a:gdLst/>
              <a:ahLst/>
              <a:cxnLst/>
              <a:rect l="l" t="t" r="r" b="b"/>
              <a:pathLst>
                <a:path w="9144000" h="638175">
                  <a:moveTo>
                    <a:pt x="9144000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9144000" y="6381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Why</a:t>
            </a:r>
            <a:r>
              <a:rPr spc="160" dirty="0"/>
              <a:t> </a:t>
            </a:r>
            <a:r>
              <a:rPr dirty="0"/>
              <a:t>Federated</a:t>
            </a:r>
            <a:r>
              <a:rPr spc="175" dirty="0"/>
              <a:t> </a:t>
            </a:r>
            <a:r>
              <a:rPr spc="-10" dirty="0"/>
              <a:t>Learning?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6712" y="871600"/>
            <a:ext cx="4114800" cy="1828800"/>
          </a:xfrm>
          <a:prstGeom prst="rect">
            <a:avLst/>
          </a:prstGeom>
          <a:solidFill>
            <a:srgbClr val="FFFFFF">
              <a:alpha val="12156"/>
            </a:srgbClr>
          </a:solidFill>
          <a:ln w="12700">
            <a:solidFill>
              <a:srgbClr val="018090"/>
            </a:solidFill>
          </a:ln>
        </p:spPr>
        <p:txBody>
          <a:bodyPr vert="horz" wrap="square" lIns="0" tIns="183515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445"/>
              </a:spcBef>
            </a:pPr>
            <a:r>
              <a:rPr sz="1400" b="1" dirty="0">
                <a:solidFill>
                  <a:srgbClr val="00A895"/>
                </a:solidFill>
                <a:latin typeface="Georgia"/>
                <a:cs typeface="Georgia"/>
              </a:rPr>
              <a:t>Data</a:t>
            </a:r>
            <a:r>
              <a:rPr sz="1400" b="1" spc="-40" dirty="0">
                <a:solidFill>
                  <a:srgbClr val="00A895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A895"/>
                </a:solidFill>
                <a:latin typeface="Georgia"/>
                <a:cs typeface="Georgia"/>
              </a:rPr>
              <a:t>Privacy</a:t>
            </a:r>
            <a:endParaRPr sz="1400">
              <a:latin typeface="Georgia"/>
              <a:cs typeface="Georgia"/>
            </a:endParaRPr>
          </a:p>
          <a:p>
            <a:pPr marL="514350" marR="640715" indent="-286385">
              <a:lnSpc>
                <a:spcPct val="105100"/>
              </a:lnSpc>
              <a:spcBef>
                <a:spcPts val="1065"/>
              </a:spcBef>
              <a:buFont typeface="Arial MT"/>
              <a:buChar char="•"/>
              <a:tabLst>
                <a:tab pos="514350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Sensitive</a:t>
            </a:r>
            <a:r>
              <a:rPr sz="1250" spc="1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250" spc="1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(medical,</a:t>
            </a:r>
            <a:r>
              <a:rPr sz="1250" spc="10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financial)</a:t>
            </a:r>
            <a:r>
              <a:rPr sz="1250" spc="10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cannot</a:t>
            </a:r>
            <a:r>
              <a:rPr sz="1250" spc="1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E293A"/>
                </a:solidFill>
                <a:latin typeface="Calibri"/>
                <a:cs typeface="Calibri"/>
              </a:rPr>
              <a:t>be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centralized</a:t>
            </a:r>
            <a:endParaRPr sz="1250">
              <a:latin typeface="Calibri"/>
              <a:cs typeface="Calibri"/>
            </a:endParaRPr>
          </a:p>
          <a:p>
            <a:pPr marL="513715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51371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Privacy</a:t>
            </a:r>
            <a:r>
              <a:rPr sz="1250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regulations</a:t>
            </a:r>
            <a:r>
              <a:rPr sz="1250" spc="10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like</a:t>
            </a:r>
            <a:r>
              <a:rPr sz="1250" spc="114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GDPR</a:t>
            </a:r>
            <a:r>
              <a:rPr sz="1250" spc="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restrict</a:t>
            </a:r>
            <a:r>
              <a:rPr sz="1250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250" spc="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sharing</a:t>
            </a:r>
            <a:endParaRPr sz="1250">
              <a:latin typeface="Calibri"/>
              <a:cs typeface="Calibri"/>
            </a:endParaRPr>
          </a:p>
          <a:p>
            <a:pPr marL="514350" marR="629285" indent="-286385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514350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Federated</a:t>
            </a:r>
            <a:r>
              <a:rPr sz="1250" spc="1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Learning</a:t>
            </a:r>
            <a:r>
              <a:rPr sz="1250" spc="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keeps</a:t>
            </a:r>
            <a:r>
              <a:rPr sz="1250" spc="8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250" spc="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on</a:t>
            </a:r>
            <a:r>
              <a:rPr sz="1250" spc="1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25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user’s device</a:t>
            </a:r>
            <a:endParaRPr sz="1250">
              <a:latin typeface="Calibri"/>
              <a:cs typeface="Calibri"/>
            </a:endParaRPr>
          </a:p>
          <a:p>
            <a:pPr marL="513715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51371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Only</a:t>
            </a:r>
            <a:r>
              <a:rPr sz="1250" spc="9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250" spc="8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updates</a:t>
            </a:r>
            <a:r>
              <a:rPr sz="1250" spc="10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are</a:t>
            </a:r>
            <a:r>
              <a:rPr sz="1250" spc="1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shared,</a:t>
            </a:r>
            <a:r>
              <a:rPr sz="1250" spc="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not</a:t>
            </a:r>
            <a:r>
              <a:rPr sz="125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raw</a:t>
            </a:r>
            <a:r>
              <a:rPr sz="1250" spc="1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712" y="2881312"/>
            <a:ext cx="4114800" cy="1828800"/>
          </a:xfrm>
          <a:prstGeom prst="rect">
            <a:avLst/>
          </a:prstGeom>
          <a:solidFill>
            <a:srgbClr val="FFFFFF">
              <a:alpha val="12156"/>
            </a:srgbClr>
          </a:solidFill>
          <a:ln w="12700">
            <a:solidFill>
              <a:srgbClr val="018090"/>
            </a:solidFill>
          </a:ln>
        </p:spPr>
        <p:txBody>
          <a:bodyPr vert="horz" wrap="square" lIns="0" tIns="18923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490"/>
              </a:spcBef>
            </a:pPr>
            <a:r>
              <a:rPr sz="1400" b="1" spc="-10" dirty="0">
                <a:solidFill>
                  <a:srgbClr val="00A895"/>
                </a:solidFill>
                <a:latin typeface="Georgia"/>
                <a:cs typeface="Georgia"/>
              </a:rPr>
              <a:t>Communication</a:t>
            </a:r>
            <a:r>
              <a:rPr sz="1400" b="1" spc="30" dirty="0">
                <a:solidFill>
                  <a:srgbClr val="00A895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A895"/>
                </a:solidFill>
                <a:latin typeface="Georgia"/>
                <a:cs typeface="Georgia"/>
              </a:rPr>
              <a:t>Efficiency</a:t>
            </a:r>
            <a:endParaRPr sz="1400">
              <a:latin typeface="Georgia"/>
              <a:cs typeface="Georgia"/>
            </a:endParaRPr>
          </a:p>
          <a:p>
            <a:pPr marL="374650" marR="414655" indent="-286385">
              <a:lnSpc>
                <a:spcPts val="1430"/>
              </a:lnSpc>
              <a:spcBef>
                <a:spcPts val="1175"/>
              </a:spcBef>
              <a:buFont typeface="Arial MT"/>
              <a:buChar char="•"/>
              <a:tabLst>
                <a:tab pos="374650" algn="l"/>
              </a:tabLst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Only model</a:t>
            </a:r>
            <a:r>
              <a:rPr sz="1200" spc="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parameters</a:t>
            </a:r>
            <a:r>
              <a:rPr sz="120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are</a:t>
            </a:r>
            <a:r>
              <a:rPr sz="120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transmitted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—</a:t>
            </a:r>
            <a:r>
              <a:rPr sz="120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not</a:t>
            </a:r>
            <a:r>
              <a:rPr sz="120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entire datasets.</a:t>
            </a:r>
            <a:r>
              <a:rPr sz="120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Drastically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reduces</a:t>
            </a:r>
            <a:r>
              <a:rPr sz="120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network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bandwidth requirements.Only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 model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parameters</a:t>
            </a:r>
            <a:r>
              <a:rPr sz="120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are</a:t>
            </a:r>
            <a:r>
              <a:rPr sz="1200" spc="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transmitted</a:t>
            </a:r>
            <a:endParaRPr sz="1200">
              <a:latin typeface="Calibri"/>
              <a:cs typeface="Calibri"/>
            </a:endParaRPr>
          </a:p>
          <a:p>
            <a:pPr marL="374650" indent="-285750">
              <a:lnSpc>
                <a:spcPts val="1435"/>
              </a:lnSpc>
              <a:spcBef>
                <a:spcPts val="10"/>
              </a:spcBef>
              <a:buFont typeface="Arial MT"/>
              <a:buChar char="•"/>
              <a:tabLst>
                <a:tab pos="374650" algn="l"/>
              </a:tabLst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Entire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datasets</a:t>
            </a:r>
            <a:r>
              <a:rPr sz="12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are</a:t>
            </a:r>
            <a:r>
              <a:rPr sz="120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not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shared</a:t>
            </a:r>
            <a:endParaRPr sz="1200">
              <a:latin typeface="Calibri"/>
              <a:cs typeface="Calibri"/>
            </a:endParaRPr>
          </a:p>
          <a:p>
            <a:pPr marL="374650" indent="-285750">
              <a:lnSpc>
                <a:spcPts val="1430"/>
              </a:lnSpc>
              <a:buFont typeface="Arial MT"/>
              <a:buChar char="•"/>
              <a:tabLst>
                <a:tab pos="374650" algn="l"/>
              </a:tabLst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Reduces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network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bandwidth</a:t>
            </a:r>
            <a:r>
              <a:rPr sz="12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usage</a:t>
            </a:r>
            <a:endParaRPr sz="1200">
              <a:latin typeface="Calibri"/>
              <a:cs typeface="Calibri"/>
            </a:endParaRPr>
          </a:p>
          <a:p>
            <a:pPr marL="374650" indent="-285750">
              <a:lnSpc>
                <a:spcPts val="1435"/>
              </a:lnSpc>
              <a:buFont typeface="Arial MT"/>
              <a:buChar char="•"/>
              <a:tabLst>
                <a:tab pos="374650" algn="l"/>
              </a:tabLst>
            </a:pP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Makes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communication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more</a:t>
            </a:r>
            <a:r>
              <a:rPr sz="1200" spc="-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efficient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62551" y="871600"/>
            <a:ext cx="4257675" cy="1828800"/>
          </a:xfrm>
          <a:prstGeom prst="rect">
            <a:avLst/>
          </a:prstGeom>
          <a:solidFill>
            <a:srgbClr val="FFFFFF">
              <a:alpha val="12156"/>
            </a:srgbClr>
          </a:solidFill>
          <a:ln w="12700">
            <a:solidFill>
              <a:srgbClr val="018090"/>
            </a:solidFill>
          </a:ln>
        </p:spPr>
        <p:txBody>
          <a:bodyPr vert="horz" wrap="square" lIns="0" tIns="183515" rIns="0" bIns="0" rtlCol="0">
            <a:spAutoFit/>
          </a:bodyPr>
          <a:lstStyle/>
          <a:p>
            <a:pPr marL="415925">
              <a:lnSpc>
                <a:spcPct val="100000"/>
              </a:lnSpc>
              <a:spcBef>
                <a:spcPts val="1445"/>
              </a:spcBef>
            </a:pPr>
            <a:r>
              <a:rPr sz="1400" b="1" dirty="0">
                <a:solidFill>
                  <a:srgbClr val="00A895"/>
                </a:solidFill>
                <a:latin typeface="Georgia"/>
                <a:cs typeface="Georgia"/>
              </a:rPr>
              <a:t>Data</a:t>
            </a:r>
            <a:r>
              <a:rPr sz="1400" b="1" spc="-40" dirty="0">
                <a:solidFill>
                  <a:srgbClr val="00A895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A895"/>
                </a:solidFill>
                <a:latin typeface="Georgia"/>
                <a:cs typeface="Georgia"/>
              </a:rPr>
              <a:t>Heterogeneity</a:t>
            </a:r>
            <a:endParaRPr sz="1400">
              <a:latin typeface="Georgia"/>
              <a:cs typeface="Georgia"/>
            </a:endParaRPr>
          </a:p>
          <a:p>
            <a:pPr marL="657225" marR="729615" indent="-286385">
              <a:lnSpc>
                <a:spcPct val="105100"/>
              </a:lnSpc>
              <a:spcBef>
                <a:spcPts val="1065"/>
              </a:spcBef>
              <a:buFont typeface="Arial MT"/>
              <a:buChar char="•"/>
              <a:tabLst>
                <a:tab pos="65722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Real-world</a:t>
            </a:r>
            <a:r>
              <a:rPr sz="1250" spc="1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250" spc="1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250" spc="8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non-IID</a:t>
            </a:r>
            <a:r>
              <a:rPr sz="125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(different</a:t>
            </a:r>
            <a:r>
              <a:rPr sz="1250" spc="8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across clients)</a:t>
            </a:r>
            <a:endParaRPr sz="1250">
              <a:latin typeface="Calibri"/>
              <a:cs typeface="Calibri"/>
            </a:endParaRPr>
          </a:p>
          <a:p>
            <a:pPr marL="657225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65722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Each</a:t>
            </a:r>
            <a:r>
              <a:rPr sz="1250" spc="8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client</a:t>
            </a:r>
            <a:r>
              <a:rPr sz="1250" spc="10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has</a:t>
            </a:r>
            <a:r>
              <a:rPr sz="1250" spc="10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different</a:t>
            </a:r>
            <a:r>
              <a:rPr sz="125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250" spc="1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distribution</a:t>
            </a:r>
            <a:endParaRPr sz="1250">
              <a:latin typeface="Calibri"/>
              <a:cs typeface="Calibri"/>
            </a:endParaRPr>
          </a:p>
          <a:p>
            <a:pPr marL="657225" marR="436245" indent="-286385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65722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Federated</a:t>
            </a:r>
            <a:r>
              <a:rPr sz="1250" spc="1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learning</a:t>
            </a:r>
            <a:r>
              <a:rPr sz="1250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handles</a:t>
            </a:r>
            <a:r>
              <a:rPr sz="1250" spc="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250" spc="1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heterogeneity naturally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2551" y="2881312"/>
            <a:ext cx="4248150" cy="1866900"/>
          </a:xfrm>
          <a:prstGeom prst="rect">
            <a:avLst/>
          </a:prstGeom>
          <a:solidFill>
            <a:srgbClr val="FFFFFF">
              <a:alpha val="12156"/>
            </a:srgbClr>
          </a:solidFill>
          <a:ln w="12700">
            <a:solidFill>
              <a:srgbClr val="018090"/>
            </a:solidFill>
          </a:ln>
        </p:spPr>
        <p:txBody>
          <a:bodyPr vert="horz" wrap="square" lIns="0" tIns="189230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490"/>
              </a:spcBef>
            </a:pPr>
            <a:r>
              <a:rPr sz="1400" b="1" spc="-10" dirty="0">
                <a:solidFill>
                  <a:srgbClr val="00A895"/>
                </a:solidFill>
                <a:latin typeface="Georgia"/>
                <a:cs typeface="Georgia"/>
              </a:rPr>
              <a:t>Scalability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400">
              <a:latin typeface="Georgia"/>
              <a:cs typeface="Georgia"/>
            </a:endParaRPr>
          </a:p>
          <a:p>
            <a:pPr marL="657225" indent="-285750">
              <a:lnSpc>
                <a:spcPct val="100000"/>
              </a:lnSpc>
              <a:buFont typeface="Arial MT"/>
              <a:buChar char="•"/>
              <a:tabLst>
                <a:tab pos="65722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Only</a:t>
            </a:r>
            <a:r>
              <a:rPr sz="1250" spc="10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250" spc="8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parameters</a:t>
            </a:r>
            <a:r>
              <a:rPr sz="1250" spc="10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are</a:t>
            </a:r>
            <a:r>
              <a:rPr sz="1250" spc="1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transmitted</a:t>
            </a:r>
            <a:endParaRPr sz="1250">
              <a:latin typeface="Calibri"/>
              <a:cs typeface="Calibri"/>
            </a:endParaRPr>
          </a:p>
          <a:p>
            <a:pPr marL="657225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65722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Entire</a:t>
            </a:r>
            <a:r>
              <a:rPr sz="1250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datasets</a:t>
            </a:r>
            <a:r>
              <a:rPr sz="1250" spc="8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are</a:t>
            </a:r>
            <a:r>
              <a:rPr sz="1250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not</a:t>
            </a:r>
            <a:r>
              <a:rPr sz="1250" spc="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shared</a:t>
            </a:r>
            <a:endParaRPr sz="1250">
              <a:latin typeface="Calibri"/>
              <a:cs typeface="Calibri"/>
            </a:endParaRPr>
          </a:p>
          <a:p>
            <a:pPr marL="657225" marR="844550" indent="-286385">
              <a:lnSpc>
                <a:spcPts val="1580"/>
              </a:lnSpc>
              <a:spcBef>
                <a:spcPts val="65"/>
              </a:spcBef>
              <a:buFont typeface="Arial MT"/>
              <a:buChar char="•"/>
              <a:tabLst>
                <a:tab pos="657225" algn="l"/>
              </a:tabLst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Significantly</a:t>
            </a:r>
            <a:r>
              <a:rPr sz="1250" spc="18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reduces</a:t>
            </a:r>
            <a:r>
              <a:rPr sz="1250" spc="8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network</a:t>
            </a:r>
            <a:r>
              <a:rPr sz="1250" spc="18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E293A"/>
                </a:solidFill>
                <a:latin typeface="Calibri"/>
                <a:cs typeface="Calibri"/>
              </a:rPr>
              <a:t>bandwidth requirements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0304" y="4802504"/>
            <a:ext cx="425831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i="1" dirty="0">
                <a:solidFill>
                  <a:srgbClr val="00A895"/>
                </a:solidFill>
                <a:latin typeface="Calibri"/>
                <a:cs typeface="Calibri"/>
              </a:rPr>
              <a:t>Application</a:t>
            </a:r>
            <a:r>
              <a:rPr sz="950" i="1" spc="165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00A895"/>
                </a:solidFill>
                <a:latin typeface="Calibri"/>
                <a:cs typeface="Calibri"/>
              </a:rPr>
              <a:t>domains:</a:t>
            </a:r>
            <a:r>
              <a:rPr sz="950" i="1" spc="75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00A895"/>
                </a:solidFill>
                <a:latin typeface="Calibri"/>
                <a:cs typeface="Calibri"/>
              </a:rPr>
              <a:t>Healthcare,</a:t>
            </a:r>
            <a:r>
              <a:rPr sz="950" i="1" spc="220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00A895"/>
                </a:solidFill>
                <a:latin typeface="Calibri"/>
                <a:cs typeface="Calibri"/>
              </a:rPr>
              <a:t>Finance,</a:t>
            </a:r>
            <a:r>
              <a:rPr sz="950" i="1" spc="215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00A895"/>
                </a:solidFill>
                <a:latin typeface="Calibri"/>
                <a:cs typeface="Calibri"/>
              </a:rPr>
              <a:t>Mobile</a:t>
            </a:r>
            <a:r>
              <a:rPr sz="950" i="1" spc="110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00A895"/>
                </a:solidFill>
                <a:latin typeface="Calibri"/>
                <a:cs typeface="Calibri"/>
              </a:rPr>
              <a:t>keyboards,</a:t>
            </a:r>
            <a:r>
              <a:rPr sz="950" i="1" spc="215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00A895"/>
                </a:solidFill>
                <a:latin typeface="Calibri"/>
                <a:cs typeface="Calibri"/>
              </a:rPr>
              <a:t>Autonomous</a:t>
            </a:r>
            <a:r>
              <a:rPr sz="950" i="1" spc="120" dirty="0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00A895"/>
                </a:solidFill>
                <a:latin typeface="Calibri"/>
                <a:cs typeface="Calibri"/>
              </a:rPr>
              <a:t>vehicles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38175"/>
          </a:xfrm>
          <a:custGeom>
            <a:avLst/>
            <a:gdLst/>
            <a:ahLst/>
            <a:cxnLst/>
            <a:rect l="l" t="t" r="r" b="b"/>
            <a:pathLst>
              <a:path w="9144000" h="638175">
                <a:moveTo>
                  <a:pt x="9144000" y="0"/>
                </a:moveTo>
                <a:lnTo>
                  <a:pt x="0" y="0"/>
                </a:lnTo>
                <a:lnTo>
                  <a:pt x="0" y="638175"/>
                </a:lnTo>
                <a:lnTo>
                  <a:pt x="9144000" y="638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160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/>
              <a:t>How</a:t>
            </a:r>
            <a:r>
              <a:rPr sz="2000" spc="-35" dirty="0"/>
              <a:t> </a:t>
            </a:r>
            <a:r>
              <a:rPr sz="2000" dirty="0"/>
              <a:t>Federated</a:t>
            </a:r>
            <a:r>
              <a:rPr sz="2000" spc="-70" dirty="0"/>
              <a:t> </a:t>
            </a:r>
            <a:r>
              <a:rPr sz="2000" dirty="0"/>
              <a:t>Learning</a:t>
            </a:r>
            <a:r>
              <a:rPr sz="2000" spc="20" dirty="0"/>
              <a:t> </a:t>
            </a:r>
            <a:r>
              <a:rPr sz="2000" dirty="0"/>
              <a:t>Works</a:t>
            </a:r>
            <a:r>
              <a:rPr sz="2000" spc="-30" dirty="0"/>
              <a:t> </a:t>
            </a:r>
            <a:r>
              <a:rPr sz="2000" dirty="0"/>
              <a:t>—</a:t>
            </a:r>
            <a:r>
              <a:rPr sz="2000" spc="-50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dirty="0"/>
              <a:t>FL</a:t>
            </a:r>
            <a:r>
              <a:rPr sz="2000" spc="-45" dirty="0"/>
              <a:t> </a:t>
            </a:r>
            <a:r>
              <a:rPr sz="2000" dirty="0"/>
              <a:t>Training</a:t>
            </a:r>
            <a:r>
              <a:rPr sz="2000" spc="-50" dirty="0"/>
              <a:t> </a:t>
            </a:r>
            <a:r>
              <a:rPr sz="2000" spc="-10" dirty="0"/>
              <a:t>Cycle</a:t>
            </a:r>
            <a:endParaRPr sz="2000"/>
          </a:p>
        </p:txBody>
      </p:sp>
      <p:grpSp>
        <p:nvGrpSpPr>
          <p:cNvPr id="4" name="object 4"/>
          <p:cNvGrpSpPr/>
          <p:nvPr/>
        </p:nvGrpSpPr>
        <p:grpSpPr>
          <a:xfrm>
            <a:off x="0" y="819086"/>
            <a:ext cx="1981200" cy="4053204"/>
            <a:chOff x="0" y="819086"/>
            <a:chExt cx="1981200" cy="40532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8775" y="2095436"/>
              <a:ext cx="352425" cy="3381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819086"/>
              <a:ext cx="1709801" cy="40529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200" y="904875"/>
              <a:ext cx="1552575" cy="3829050"/>
            </a:xfrm>
            <a:custGeom>
              <a:avLst/>
              <a:gdLst/>
              <a:ahLst/>
              <a:cxnLst/>
              <a:rect l="l" t="t" r="r" b="b"/>
              <a:pathLst>
                <a:path w="1552575" h="3829050">
                  <a:moveTo>
                    <a:pt x="1552575" y="0"/>
                  </a:moveTo>
                  <a:lnTo>
                    <a:pt x="0" y="0"/>
                  </a:lnTo>
                  <a:lnTo>
                    <a:pt x="0" y="3829050"/>
                  </a:lnTo>
                  <a:lnTo>
                    <a:pt x="1552575" y="3829050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01606D">
                <a:alpha val="5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6737" y="1014476"/>
              <a:ext cx="600075" cy="638175"/>
            </a:xfrm>
            <a:custGeom>
              <a:avLst/>
              <a:gdLst/>
              <a:ahLst/>
              <a:cxnLst/>
              <a:rect l="l" t="t" r="r" b="b"/>
              <a:pathLst>
                <a:path w="600075" h="638175">
                  <a:moveTo>
                    <a:pt x="300037" y="0"/>
                  </a:moveTo>
                  <a:lnTo>
                    <a:pt x="255699" y="3457"/>
                  </a:lnTo>
                  <a:lnTo>
                    <a:pt x="213381" y="13500"/>
                  </a:lnTo>
                  <a:lnTo>
                    <a:pt x="173547" y="29637"/>
                  </a:lnTo>
                  <a:lnTo>
                    <a:pt x="136662" y="51375"/>
                  </a:lnTo>
                  <a:lnTo>
                    <a:pt x="103189" y="78222"/>
                  </a:lnTo>
                  <a:lnTo>
                    <a:pt x="73592" y="109686"/>
                  </a:lnTo>
                  <a:lnTo>
                    <a:pt x="48337" y="145275"/>
                  </a:lnTo>
                  <a:lnTo>
                    <a:pt x="27885" y="184495"/>
                  </a:lnTo>
                  <a:lnTo>
                    <a:pt x="12703" y="226855"/>
                  </a:lnTo>
                  <a:lnTo>
                    <a:pt x="3253" y="271862"/>
                  </a:lnTo>
                  <a:lnTo>
                    <a:pt x="0" y="319024"/>
                  </a:lnTo>
                  <a:lnTo>
                    <a:pt x="3253" y="366188"/>
                  </a:lnTo>
                  <a:lnTo>
                    <a:pt x="12703" y="411204"/>
                  </a:lnTo>
                  <a:lnTo>
                    <a:pt x="27885" y="453575"/>
                  </a:lnTo>
                  <a:lnTo>
                    <a:pt x="48337" y="492811"/>
                  </a:lnTo>
                  <a:lnTo>
                    <a:pt x="73592" y="528416"/>
                  </a:lnTo>
                  <a:lnTo>
                    <a:pt x="103189" y="559897"/>
                  </a:lnTo>
                  <a:lnTo>
                    <a:pt x="136662" y="586761"/>
                  </a:lnTo>
                  <a:lnTo>
                    <a:pt x="173547" y="608514"/>
                  </a:lnTo>
                  <a:lnTo>
                    <a:pt x="213381" y="624663"/>
                  </a:lnTo>
                  <a:lnTo>
                    <a:pt x="255699" y="634714"/>
                  </a:lnTo>
                  <a:lnTo>
                    <a:pt x="300037" y="638175"/>
                  </a:lnTo>
                  <a:lnTo>
                    <a:pt x="344375" y="634714"/>
                  </a:lnTo>
                  <a:lnTo>
                    <a:pt x="386693" y="624663"/>
                  </a:lnTo>
                  <a:lnTo>
                    <a:pt x="426527" y="608514"/>
                  </a:lnTo>
                  <a:lnTo>
                    <a:pt x="463412" y="586761"/>
                  </a:lnTo>
                  <a:lnTo>
                    <a:pt x="496885" y="559897"/>
                  </a:lnTo>
                  <a:lnTo>
                    <a:pt x="526482" y="528416"/>
                  </a:lnTo>
                  <a:lnTo>
                    <a:pt x="551737" y="492811"/>
                  </a:lnTo>
                  <a:lnTo>
                    <a:pt x="572189" y="453575"/>
                  </a:lnTo>
                  <a:lnTo>
                    <a:pt x="587371" y="411204"/>
                  </a:lnTo>
                  <a:lnTo>
                    <a:pt x="596821" y="366188"/>
                  </a:lnTo>
                  <a:lnTo>
                    <a:pt x="600075" y="319024"/>
                  </a:lnTo>
                  <a:lnTo>
                    <a:pt x="596821" y="271862"/>
                  </a:lnTo>
                  <a:lnTo>
                    <a:pt x="587371" y="226855"/>
                  </a:lnTo>
                  <a:lnTo>
                    <a:pt x="572189" y="184495"/>
                  </a:lnTo>
                  <a:lnTo>
                    <a:pt x="551737" y="145275"/>
                  </a:lnTo>
                  <a:lnTo>
                    <a:pt x="526482" y="109686"/>
                  </a:lnTo>
                  <a:lnTo>
                    <a:pt x="496885" y="78222"/>
                  </a:lnTo>
                  <a:lnTo>
                    <a:pt x="463412" y="51375"/>
                  </a:lnTo>
                  <a:lnTo>
                    <a:pt x="426527" y="29637"/>
                  </a:lnTo>
                  <a:lnTo>
                    <a:pt x="386693" y="13500"/>
                  </a:lnTo>
                  <a:lnTo>
                    <a:pt x="344375" y="3457"/>
                  </a:lnTo>
                  <a:lnTo>
                    <a:pt x="300037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6737" y="1014476"/>
              <a:ext cx="600075" cy="638175"/>
            </a:xfrm>
            <a:custGeom>
              <a:avLst/>
              <a:gdLst/>
              <a:ahLst/>
              <a:cxnLst/>
              <a:rect l="l" t="t" r="r" b="b"/>
              <a:pathLst>
                <a:path w="600075" h="638175">
                  <a:moveTo>
                    <a:pt x="0" y="319024"/>
                  </a:moveTo>
                  <a:lnTo>
                    <a:pt x="3253" y="271862"/>
                  </a:lnTo>
                  <a:lnTo>
                    <a:pt x="12703" y="226855"/>
                  </a:lnTo>
                  <a:lnTo>
                    <a:pt x="27885" y="184495"/>
                  </a:lnTo>
                  <a:lnTo>
                    <a:pt x="48337" y="145275"/>
                  </a:lnTo>
                  <a:lnTo>
                    <a:pt x="73592" y="109686"/>
                  </a:lnTo>
                  <a:lnTo>
                    <a:pt x="103189" y="78222"/>
                  </a:lnTo>
                  <a:lnTo>
                    <a:pt x="136662" y="51375"/>
                  </a:lnTo>
                  <a:lnTo>
                    <a:pt x="173547" y="29637"/>
                  </a:lnTo>
                  <a:lnTo>
                    <a:pt x="213381" y="13500"/>
                  </a:lnTo>
                  <a:lnTo>
                    <a:pt x="255699" y="3457"/>
                  </a:lnTo>
                  <a:lnTo>
                    <a:pt x="300037" y="0"/>
                  </a:lnTo>
                  <a:lnTo>
                    <a:pt x="344375" y="3457"/>
                  </a:lnTo>
                  <a:lnTo>
                    <a:pt x="386693" y="13500"/>
                  </a:lnTo>
                  <a:lnTo>
                    <a:pt x="426527" y="29637"/>
                  </a:lnTo>
                  <a:lnTo>
                    <a:pt x="463412" y="51375"/>
                  </a:lnTo>
                  <a:lnTo>
                    <a:pt x="496885" y="78222"/>
                  </a:lnTo>
                  <a:lnTo>
                    <a:pt x="526482" y="109686"/>
                  </a:lnTo>
                  <a:lnTo>
                    <a:pt x="551737" y="145275"/>
                  </a:lnTo>
                  <a:lnTo>
                    <a:pt x="572189" y="184495"/>
                  </a:lnTo>
                  <a:lnTo>
                    <a:pt x="587371" y="226855"/>
                  </a:lnTo>
                  <a:lnTo>
                    <a:pt x="596821" y="271862"/>
                  </a:lnTo>
                  <a:lnTo>
                    <a:pt x="600075" y="319024"/>
                  </a:lnTo>
                  <a:lnTo>
                    <a:pt x="596821" y="366188"/>
                  </a:lnTo>
                  <a:lnTo>
                    <a:pt x="587371" y="411204"/>
                  </a:lnTo>
                  <a:lnTo>
                    <a:pt x="572189" y="453575"/>
                  </a:lnTo>
                  <a:lnTo>
                    <a:pt x="551737" y="492811"/>
                  </a:lnTo>
                  <a:lnTo>
                    <a:pt x="526482" y="528416"/>
                  </a:lnTo>
                  <a:lnTo>
                    <a:pt x="496885" y="559897"/>
                  </a:lnTo>
                  <a:lnTo>
                    <a:pt x="463412" y="586761"/>
                  </a:lnTo>
                  <a:lnTo>
                    <a:pt x="426527" y="608514"/>
                  </a:lnTo>
                  <a:lnTo>
                    <a:pt x="386693" y="624663"/>
                  </a:lnTo>
                  <a:lnTo>
                    <a:pt x="344375" y="634714"/>
                  </a:lnTo>
                  <a:lnTo>
                    <a:pt x="300037" y="638175"/>
                  </a:lnTo>
                  <a:lnTo>
                    <a:pt x="255699" y="634714"/>
                  </a:lnTo>
                  <a:lnTo>
                    <a:pt x="213381" y="624663"/>
                  </a:lnTo>
                  <a:lnTo>
                    <a:pt x="173547" y="608514"/>
                  </a:lnTo>
                  <a:lnTo>
                    <a:pt x="136662" y="586761"/>
                  </a:lnTo>
                  <a:lnTo>
                    <a:pt x="103189" y="559897"/>
                  </a:lnTo>
                  <a:lnTo>
                    <a:pt x="73592" y="528416"/>
                  </a:lnTo>
                  <a:lnTo>
                    <a:pt x="48337" y="492811"/>
                  </a:lnTo>
                  <a:lnTo>
                    <a:pt x="27885" y="453575"/>
                  </a:lnTo>
                  <a:lnTo>
                    <a:pt x="12703" y="411204"/>
                  </a:lnTo>
                  <a:lnTo>
                    <a:pt x="3253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6200" y="904875"/>
            <a:ext cx="1552575" cy="382905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5"/>
              </a:spcBef>
            </a:pPr>
            <a:endParaRPr sz="1550">
              <a:latin typeface="Times New Roman"/>
              <a:cs typeface="Times New Roman"/>
            </a:endParaRPr>
          </a:p>
          <a:p>
            <a:pPr marL="10795" algn="ctr">
              <a:lnSpc>
                <a:spcPct val="100000"/>
              </a:lnSpc>
            </a:pPr>
            <a:r>
              <a:rPr sz="1550" b="1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550">
              <a:latin typeface="Georgia"/>
              <a:cs typeface="Georgia"/>
            </a:endParaRPr>
          </a:p>
          <a:p>
            <a:pPr marL="352425" marR="347345" indent="6350" algn="ctr">
              <a:lnSpc>
                <a:spcPct val="105200"/>
              </a:lnSpc>
            </a:pPr>
            <a:r>
              <a:rPr sz="1250" b="1" spc="-10" dirty="0">
                <a:solidFill>
                  <a:srgbClr val="FFFFFF"/>
                </a:solidFill>
                <a:latin typeface="Georgia"/>
                <a:cs typeface="Georgia"/>
              </a:rPr>
              <a:t>Server Initializes</a:t>
            </a:r>
            <a:endParaRPr sz="1250">
              <a:latin typeface="Georgia"/>
              <a:cs typeface="Georgia"/>
            </a:endParaRPr>
          </a:p>
          <a:p>
            <a:pPr marL="173990" marR="182245">
              <a:lnSpc>
                <a:spcPct val="100600"/>
              </a:lnSpc>
              <a:spcBef>
                <a:spcPts val="141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creates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4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weights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broadcasts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clients.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19275" y="819086"/>
            <a:ext cx="2038350" cy="4053204"/>
            <a:chOff x="1819275" y="819086"/>
            <a:chExt cx="2038350" cy="4053204"/>
          </a:xfrm>
        </p:grpSpPr>
        <p:sp>
          <p:nvSpPr>
            <p:cNvPr id="12" name="object 12"/>
            <p:cNvSpPr/>
            <p:nvPr/>
          </p:nvSpPr>
          <p:spPr>
            <a:xfrm>
              <a:off x="3505200" y="2181225"/>
              <a:ext cx="352425" cy="133350"/>
            </a:xfrm>
            <a:custGeom>
              <a:avLst/>
              <a:gdLst/>
              <a:ahLst/>
              <a:cxnLst/>
              <a:rect l="l" t="t" r="r" b="b"/>
              <a:pathLst>
                <a:path w="352425" h="133350">
                  <a:moveTo>
                    <a:pt x="352425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352425" y="133350"/>
                  </a:lnTo>
                  <a:lnTo>
                    <a:pt x="352425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9275" y="819086"/>
              <a:ext cx="1766951" cy="40529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962150" y="904875"/>
              <a:ext cx="1543050" cy="3829050"/>
            </a:xfrm>
            <a:custGeom>
              <a:avLst/>
              <a:gdLst/>
              <a:ahLst/>
              <a:cxnLst/>
              <a:rect l="l" t="t" r="r" b="b"/>
              <a:pathLst>
                <a:path w="1543050" h="3829050">
                  <a:moveTo>
                    <a:pt x="1543050" y="0"/>
                  </a:moveTo>
                  <a:lnTo>
                    <a:pt x="0" y="0"/>
                  </a:lnTo>
                  <a:lnTo>
                    <a:pt x="0" y="3829050"/>
                  </a:lnTo>
                  <a:lnTo>
                    <a:pt x="1543050" y="3829050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01606D">
                <a:alpha val="6313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3226" y="1014476"/>
              <a:ext cx="600075" cy="638175"/>
            </a:xfrm>
            <a:custGeom>
              <a:avLst/>
              <a:gdLst/>
              <a:ahLst/>
              <a:cxnLst/>
              <a:rect l="l" t="t" r="r" b="b"/>
              <a:pathLst>
                <a:path w="600075" h="638175">
                  <a:moveTo>
                    <a:pt x="299974" y="0"/>
                  </a:moveTo>
                  <a:lnTo>
                    <a:pt x="255631" y="3457"/>
                  </a:lnTo>
                  <a:lnTo>
                    <a:pt x="213314" y="13500"/>
                  </a:lnTo>
                  <a:lnTo>
                    <a:pt x="173484" y="29637"/>
                  </a:lnTo>
                  <a:lnTo>
                    <a:pt x="136606" y="51375"/>
                  </a:lnTo>
                  <a:lnTo>
                    <a:pt x="103143" y="78222"/>
                  </a:lnTo>
                  <a:lnTo>
                    <a:pt x="73556" y="109686"/>
                  </a:lnTo>
                  <a:lnTo>
                    <a:pt x="48311" y="145275"/>
                  </a:lnTo>
                  <a:lnTo>
                    <a:pt x="27869" y="184495"/>
                  </a:lnTo>
                  <a:lnTo>
                    <a:pt x="12695" y="226855"/>
                  </a:lnTo>
                  <a:lnTo>
                    <a:pt x="3251" y="271862"/>
                  </a:lnTo>
                  <a:lnTo>
                    <a:pt x="0" y="319024"/>
                  </a:lnTo>
                  <a:lnTo>
                    <a:pt x="3251" y="366188"/>
                  </a:lnTo>
                  <a:lnTo>
                    <a:pt x="12695" y="411204"/>
                  </a:lnTo>
                  <a:lnTo>
                    <a:pt x="27869" y="453575"/>
                  </a:lnTo>
                  <a:lnTo>
                    <a:pt x="48311" y="492811"/>
                  </a:lnTo>
                  <a:lnTo>
                    <a:pt x="73556" y="528416"/>
                  </a:lnTo>
                  <a:lnTo>
                    <a:pt x="103143" y="559897"/>
                  </a:lnTo>
                  <a:lnTo>
                    <a:pt x="136606" y="586761"/>
                  </a:lnTo>
                  <a:lnTo>
                    <a:pt x="173484" y="608514"/>
                  </a:lnTo>
                  <a:lnTo>
                    <a:pt x="213314" y="624663"/>
                  </a:lnTo>
                  <a:lnTo>
                    <a:pt x="255631" y="634714"/>
                  </a:lnTo>
                  <a:lnTo>
                    <a:pt x="299974" y="638175"/>
                  </a:lnTo>
                  <a:lnTo>
                    <a:pt x="344319" y="634714"/>
                  </a:lnTo>
                  <a:lnTo>
                    <a:pt x="386644" y="624663"/>
                  </a:lnTo>
                  <a:lnTo>
                    <a:pt x="426486" y="608514"/>
                  </a:lnTo>
                  <a:lnTo>
                    <a:pt x="463379" y="586761"/>
                  </a:lnTo>
                  <a:lnTo>
                    <a:pt x="496859" y="559897"/>
                  </a:lnTo>
                  <a:lnTo>
                    <a:pt x="526463" y="528416"/>
                  </a:lnTo>
                  <a:lnTo>
                    <a:pt x="551725" y="492811"/>
                  </a:lnTo>
                  <a:lnTo>
                    <a:pt x="572181" y="453575"/>
                  </a:lnTo>
                  <a:lnTo>
                    <a:pt x="587368" y="411204"/>
                  </a:lnTo>
                  <a:lnTo>
                    <a:pt x="596820" y="366188"/>
                  </a:lnTo>
                  <a:lnTo>
                    <a:pt x="600075" y="319024"/>
                  </a:lnTo>
                  <a:lnTo>
                    <a:pt x="596820" y="271862"/>
                  </a:lnTo>
                  <a:lnTo>
                    <a:pt x="587368" y="226855"/>
                  </a:lnTo>
                  <a:lnTo>
                    <a:pt x="572181" y="184495"/>
                  </a:lnTo>
                  <a:lnTo>
                    <a:pt x="551725" y="145275"/>
                  </a:lnTo>
                  <a:lnTo>
                    <a:pt x="526463" y="109686"/>
                  </a:lnTo>
                  <a:lnTo>
                    <a:pt x="496859" y="78222"/>
                  </a:lnTo>
                  <a:lnTo>
                    <a:pt x="463379" y="51375"/>
                  </a:lnTo>
                  <a:lnTo>
                    <a:pt x="426486" y="29637"/>
                  </a:lnTo>
                  <a:lnTo>
                    <a:pt x="386644" y="13500"/>
                  </a:lnTo>
                  <a:lnTo>
                    <a:pt x="344319" y="3457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43226" y="1014476"/>
              <a:ext cx="600075" cy="638175"/>
            </a:xfrm>
            <a:custGeom>
              <a:avLst/>
              <a:gdLst/>
              <a:ahLst/>
              <a:cxnLst/>
              <a:rect l="l" t="t" r="r" b="b"/>
              <a:pathLst>
                <a:path w="600075" h="638175">
                  <a:moveTo>
                    <a:pt x="0" y="319024"/>
                  </a:moveTo>
                  <a:lnTo>
                    <a:pt x="3251" y="271862"/>
                  </a:lnTo>
                  <a:lnTo>
                    <a:pt x="12695" y="226855"/>
                  </a:lnTo>
                  <a:lnTo>
                    <a:pt x="27869" y="184495"/>
                  </a:lnTo>
                  <a:lnTo>
                    <a:pt x="48311" y="145275"/>
                  </a:lnTo>
                  <a:lnTo>
                    <a:pt x="73556" y="109686"/>
                  </a:lnTo>
                  <a:lnTo>
                    <a:pt x="103143" y="78222"/>
                  </a:lnTo>
                  <a:lnTo>
                    <a:pt x="136606" y="51375"/>
                  </a:lnTo>
                  <a:lnTo>
                    <a:pt x="173484" y="29637"/>
                  </a:lnTo>
                  <a:lnTo>
                    <a:pt x="213314" y="13500"/>
                  </a:lnTo>
                  <a:lnTo>
                    <a:pt x="255631" y="3457"/>
                  </a:lnTo>
                  <a:lnTo>
                    <a:pt x="299974" y="0"/>
                  </a:lnTo>
                  <a:lnTo>
                    <a:pt x="344319" y="3457"/>
                  </a:lnTo>
                  <a:lnTo>
                    <a:pt x="386644" y="13500"/>
                  </a:lnTo>
                  <a:lnTo>
                    <a:pt x="426486" y="29637"/>
                  </a:lnTo>
                  <a:lnTo>
                    <a:pt x="463379" y="51375"/>
                  </a:lnTo>
                  <a:lnTo>
                    <a:pt x="496859" y="78222"/>
                  </a:lnTo>
                  <a:lnTo>
                    <a:pt x="526463" y="109686"/>
                  </a:lnTo>
                  <a:lnTo>
                    <a:pt x="551725" y="145275"/>
                  </a:lnTo>
                  <a:lnTo>
                    <a:pt x="572181" y="184495"/>
                  </a:lnTo>
                  <a:lnTo>
                    <a:pt x="587368" y="226855"/>
                  </a:lnTo>
                  <a:lnTo>
                    <a:pt x="596820" y="271862"/>
                  </a:lnTo>
                  <a:lnTo>
                    <a:pt x="600075" y="319024"/>
                  </a:lnTo>
                  <a:lnTo>
                    <a:pt x="596820" y="366188"/>
                  </a:lnTo>
                  <a:lnTo>
                    <a:pt x="587368" y="411204"/>
                  </a:lnTo>
                  <a:lnTo>
                    <a:pt x="572181" y="453575"/>
                  </a:lnTo>
                  <a:lnTo>
                    <a:pt x="551725" y="492811"/>
                  </a:lnTo>
                  <a:lnTo>
                    <a:pt x="526463" y="528416"/>
                  </a:lnTo>
                  <a:lnTo>
                    <a:pt x="496859" y="559897"/>
                  </a:lnTo>
                  <a:lnTo>
                    <a:pt x="463379" y="586761"/>
                  </a:lnTo>
                  <a:lnTo>
                    <a:pt x="426486" y="608514"/>
                  </a:lnTo>
                  <a:lnTo>
                    <a:pt x="386644" y="624663"/>
                  </a:lnTo>
                  <a:lnTo>
                    <a:pt x="344319" y="634714"/>
                  </a:lnTo>
                  <a:lnTo>
                    <a:pt x="299974" y="638175"/>
                  </a:lnTo>
                  <a:lnTo>
                    <a:pt x="255631" y="634714"/>
                  </a:lnTo>
                  <a:lnTo>
                    <a:pt x="213314" y="624663"/>
                  </a:lnTo>
                  <a:lnTo>
                    <a:pt x="173484" y="608514"/>
                  </a:lnTo>
                  <a:lnTo>
                    <a:pt x="136606" y="586761"/>
                  </a:lnTo>
                  <a:lnTo>
                    <a:pt x="103143" y="559897"/>
                  </a:lnTo>
                  <a:lnTo>
                    <a:pt x="73556" y="528416"/>
                  </a:lnTo>
                  <a:lnTo>
                    <a:pt x="48311" y="492811"/>
                  </a:lnTo>
                  <a:lnTo>
                    <a:pt x="27869" y="453575"/>
                  </a:lnTo>
                  <a:lnTo>
                    <a:pt x="12695" y="411204"/>
                  </a:lnTo>
                  <a:lnTo>
                    <a:pt x="3251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77541" y="1199578"/>
            <a:ext cx="1384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15566" y="1941766"/>
            <a:ext cx="124841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FFFFFF"/>
                </a:solidFill>
                <a:latin typeface="Georgia"/>
                <a:cs typeface="Georgia"/>
              </a:rPr>
              <a:t>Local</a:t>
            </a:r>
            <a:r>
              <a:rPr sz="1250" b="1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Georgia"/>
                <a:cs typeface="Georgia"/>
              </a:rPr>
              <a:t>Training</a:t>
            </a:r>
            <a:endParaRPr sz="12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2076" y="2414587"/>
            <a:ext cx="1207135" cy="1531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5080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client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trains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model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fixed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epochs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(e.g.,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2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epochs).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95700" y="819086"/>
            <a:ext cx="2038350" cy="4053204"/>
            <a:chOff x="3695700" y="819086"/>
            <a:chExt cx="2038350" cy="4053204"/>
          </a:xfrm>
        </p:grpSpPr>
        <p:sp>
          <p:nvSpPr>
            <p:cNvPr id="21" name="object 21"/>
            <p:cNvSpPr/>
            <p:nvPr/>
          </p:nvSpPr>
          <p:spPr>
            <a:xfrm>
              <a:off x="5391150" y="2181225"/>
              <a:ext cx="342900" cy="133350"/>
            </a:xfrm>
            <a:custGeom>
              <a:avLst/>
              <a:gdLst/>
              <a:ahLst/>
              <a:cxnLst/>
              <a:rect l="l" t="t" r="r" b="b"/>
              <a:pathLst>
                <a:path w="342900" h="133350">
                  <a:moveTo>
                    <a:pt x="342900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342900" y="1333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5700" y="819086"/>
              <a:ext cx="1776476" cy="405295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38575" y="904875"/>
              <a:ext cx="1552575" cy="3829050"/>
            </a:xfrm>
            <a:custGeom>
              <a:avLst/>
              <a:gdLst/>
              <a:ahLst/>
              <a:cxnLst/>
              <a:rect l="l" t="t" r="r" b="b"/>
              <a:pathLst>
                <a:path w="1552575" h="3829050">
                  <a:moveTo>
                    <a:pt x="1552575" y="0"/>
                  </a:moveTo>
                  <a:lnTo>
                    <a:pt x="0" y="0"/>
                  </a:lnTo>
                  <a:lnTo>
                    <a:pt x="0" y="3829050"/>
                  </a:lnTo>
                  <a:lnTo>
                    <a:pt x="1552575" y="3829050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01606D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9651" y="1014476"/>
              <a:ext cx="600075" cy="638175"/>
            </a:xfrm>
            <a:custGeom>
              <a:avLst/>
              <a:gdLst/>
              <a:ahLst/>
              <a:cxnLst/>
              <a:rect l="l" t="t" r="r" b="b"/>
              <a:pathLst>
                <a:path w="600075" h="638175">
                  <a:moveTo>
                    <a:pt x="299974" y="0"/>
                  </a:moveTo>
                  <a:lnTo>
                    <a:pt x="255631" y="3457"/>
                  </a:lnTo>
                  <a:lnTo>
                    <a:pt x="213314" y="13500"/>
                  </a:lnTo>
                  <a:lnTo>
                    <a:pt x="173484" y="29637"/>
                  </a:lnTo>
                  <a:lnTo>
                    <a:pt x="136606" y="51375"/>
                  </a:lnTo>
                  <a:lnTo>
                    <a:pt x="103143" y="78222"/>
                  </a:lnTo>
                  <a:lnTo>
                    <a:pt x="73556" y="109686"/>
                  </a:lnTo>
                  <a:lnTo>
                    <a:pt x="48311" y="145275"/>
                  </a:lnTo>
                  <a:lnTo>
                    <a:pt x="27869" y="184495"/>
                  </a:lnTo>
                  <a:lnTo>
                    <a:pt x="12695" y="226855"/>
                  </a:lnTo>
                  <a:lnTo>
                    <a:pt x="3251" y="271862"/>
                  </a:lnTo>
                  <a:lnTo>
                    <a:pt x="0" y="319024"/>
                  </a:lnTo>
                  <a:lnTo>
                    <a:pt x="3251" y="366188"/>
                  </a:lnTo>
                  <a:lnTo>
                    <a:pt x="12695" y="411204"/>
                  </a:lnTo>
                  <a:lnTo>
                    <a:pt x="27869" y="453575"/>
                  </a:lnTo>
                  <a:lnTo>
                    <a:pt x="48311" y="492811"/>
                  </a:lnTo>
                  <a:lnTo>
                    <a:pt x="73556" y="528416"/>
                  </a:lnTo>
                  <a:lnTo>
                    <a:pt x="103143" y="559897"/>
                  </a:lnTo>
                  <a:lnTo>
                    <a:pt x="136606" y="586761"/>
                  </a:lnTo>
                  <a:lnTo>
                    <a:pt x="173484" y="608514"/>
                  </a:lnTo>
                  <a:lnTo>
                    <a:pt x="213314" y="624663"/>
                  </a:lnTo>
                  <a:lnTo>
                    <a:pt x="255631" y="634714"/>
                  </a:lnTo>
                  <a:lnTo>
                    <a:pt x="299974" y="638175"/>
                  </a:lnTo>
                  <a:lnTo>
                    <a:pt x="344319" y="634714"/>
                  </a:lnTo>
                  <a:lnTo>
                    <a:pt x="386644" y="624663"/>
                  </a:lnTo>
                  <a:lnTo>
                    <a:pt x="426486" y="608514"/>
                  </a:lnTo>
                  <a:lnTo>
                    <a:pt x="463379" y="586761"/>
                  </a:lnTo>
                  <a:lnTo>
                    <a:pt x="496859" y="559897"/>
                  </a:lnTo>
                  <a:lnTo>
                    <a:pt x="526463" y="528416"/>
                  </a:lnTo>
                  <a:lnTo>
                    <a:pt x="551725" y="492811"/>
                  </a:lnTo>
                  <a:lnTo>
                    <a:pt x="572181" y="453575"/>
                  </a:lnTo>
                  <a:lnTo>
                    <a:pt x="587368" y="411204"/>
                  </a:lnTo>
                  <a:lnTo>
                    <a:pt x="596820" y="366188"/>
                  </a:lnTo>
                  <a:lnTo>
                    <a:pt x="600075" y="319024"/>
                  </a:lnTo>
                  <a:lnTo>
                    <a:pt x="596820" y="271862"/>
                  </a:lnTo>
                  <a:lnTo>
                    <a:pt x="587368" y="226855"/>
                  </a:lnTo>
                  <a:lnTo>
                    <a:pt x="572181" y="184495"/>
                  </a:lnTo>
                  <a:lnTo>
                    <a:pt x="551725" y="145275"/>
                  </a:lnTo>
                  <a:lnTo>
                    <a:pt x="526463" y="109686"/>
                  </a:lnTo>
                  <a:lnTo>
                    <a:pt x="496859" y="78222"/>
                  </a:lnTo>
                  <a:lnTo>
                    <a:pt x="463379" y="51375"/>
                  </a:lnTo>
                  <a:lnTo>
                    <a:pt x="426486" y="29637"/>
                  </a:lnTo>
                  <a:lnTo>
                    <a:pt x="386644" y="13500"/>
                  </a:lnTo>
                  <a:lnTo>
                    <a:pt x="344319" y="3457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9651" y="1014476"/>
              <a:ext cx="600075" cy="638175"/>
            </a:xfrm>
            <a:custGeom>
              <a:avLst/>
              <a:gdLst/>
              <a:ahLst/>
              <a:cxnLst/>
              <a:rect l="l" t="t" r="r" b="b"/>
              <a:pathLst>
                <a:path w="600075" h="638175">
                  <a:moveTo>
                    <a:pt x="0" y="319024"/>
                  </a:moveTo>
                  <a:lnTo>
                    <a:pt x="3251" y="271862"/>
                  </a:lnTo>
                  <a:lnTo>
                    <a:pt x="12695" y="226855"/>
                  </a:lnTo>
                  <a:lnTo>
                    <a:pt x="27869" y="184495"/>
                  </a:lnTo>
                  <a:lnTo>
                    <a:pt x="48311" y="145275"/>
                  </a:lnTo>
                  <a:lnTo>
                    <a:pt x="73556" y="109686"/>
                  </a:lnTo>
                  <a:lnTo>
                    <a:pt x="103143" y="78222"/>
                  </a:lnTo>
                  <a:lnTo>
                    <a:pt x="136606" y="51375"/>
                  </a:lnTo>
                  <a:lnTo>
                    <a:pt x="173484" y="29637"/>
                  </a:lnTo>
                  <a:lnTo>
                    <a:pt x="213314" y="13500"/>
                  </a:lnTo>
                  <a:lnTo>
                    <a:pt x="255631" y="3457"/>
                  </a:lnTo>
                  <a:lnTo>
                    <a:pt x="299974" y="0"/>
                  </a:lnTo>
                  <a:lnTo>
                    <a:pt x="344319" y="3457"/>
                  </a:lnTo>
                  <a:lnTo>
                    <a:pt x="386644" y="13500"/>
                  </a:lnTo>
                  <a:lnTo>
                    <a:pt x="426486" y="29637"/>
                  </a:lnTo>
                  <a:lnTo>
                    <a:pt x="463379" y="51375"/>
                  </a:lnTo>
                  <a:lnTo>
                    <a:pt x="496859" y="78222"/>
                  </a:lnTo>
                  <a:lnTo>
                    <a:pt x="526463" y="109686"/>
                  </a:lnTo>
                  <a:lnTo>
                    <a:pt x="551725" y="145275"/>
                  </a:lnTo>
                  <a:lnTo>
                    <a:pt x="572181" y="184495"/>
                  </a:lnTo>
                  <a:lnTo>
                    <a:pt x="587368" y="226855"/>
                  </a:lnTo>
                  <a:lnTo>
                    <a:pt x="596820" y="271862"/>
                  </a:lnTo>
                  <a:lnTo>
                    <a:pt x="600075" y="319024"/>
                  </a:lnTo>
                  <a:lnTo>
                    <a:pt x="596820" y="366188"/>
                  </a:lnTo>
                  <a:lnTo>
                    <a:pt x="587368" y="411204"/>
                  </a:lnTo>
                  <a:lnTo>
                    <a:pt x="572181" y="453575"/>
                  </a:lnTo>
                  <a:lnTo>
                    <a:pt x="551725" y="492811"/>
                  </a:lnTo>
                  <a:lnTo>
                    <a:pt x="526463" y="528416"/>
                  </a:lnTo>
                  <a:lnTo>
                    <a:pt x="496859" y="559897"/>
                  </a:lnTo>
                  <a:lnTo>
                    <a:pt x="463379" y="586761"/>
                  </a:lnTo>
                  <a:lnTo>
                    <a:pt x="426486" y="608514"/>
                  </a:lnTo>
                  <a:lnTo>
                    <a:pt x="386644" y="624663"/>
                  </a:lnTo>
                  <a:lnTo>
                    <a:pt x="344319" y="634714"/>
                  </a:lnTo>
                  <a:lnTo>
                    <a:pt x="299974" y="638175"/>
                  </a:lnTo>
                  <a:lnTo>
                    <a:pt x="255631" y="634714"/>
                  </a:lnTo>
                  <a:lnTo>
                    <a:pt x="213314" y="624663"/>
                  </a:lnTo>
                  <a:lnTo>
                    <a:pt x="173484" y="608514"/>
                  </a:lnTo>
                  <a:lnTo>
                    <a:pt x="136606" y="586761"/>
                  </a:lnTo>
                  <a:lnTo>
                    <a:pt x="103143" y="559897"/>
                  </a:lnTo>
                  <a:lnTo>
                    <a:pt x="73556" y="528416"/>
                  </a:lnTo>
                  <a:lnTo>
                    <a:pt x="48311" y="492811"/>
                  </a:lnTo>
                  <a:lnTo>
                    <a:pt x="27869" y="453575"/>
                  </a:lnTo>
                  <a:lnTo>
                    <a:pt x="12695" y="411204"/>
                  </a:lnTo>
                  <a:lnTo>
                    <a:pt x="3251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59300" y="1199578"/>
            <a:ext cx="1384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06850" y="1941766"/>
            <a:ext cx="123380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FFFFFF"/>
                </a:solidFill>
                <a:latin typeface="Georgia"/>
                <a:cs typeface="Georgia"/>
              </a:rPr>
              <a:t>Weight</a:t>
            </a:r>
            <a:r>
              <a:rPr sz="1250" b="1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Georgia"/>
                <a:cs typeface="Georgia"/>
              </a:rPr>
              <a:t>Upload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13453" y="2414587"/>
            <a:ext cx="1157605" cy="1311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>
              <a:lnSpc>
                <a:spcPct val="100200"/>
              </a:lnSpc>
              <a:spcBef>
                <a:spcPts val="12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send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updated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model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weights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server.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No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raw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data is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ever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transmitted.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72125" y="819086"/>
            <a:ext cx="2047875" cy="4053204"/>
            <a:chOff x="5572125" y="819086"/>
            <a:chExt cx="2047875" cy="4053204"/>
          </a:xfrm>
        </p:grpSpPr>
        <p:sp>
          <p:nvSpPr>
            <p:cNvPr id="30" name="object 30"/>
            <p:cNvSpPr/>
            <p:nvPr/>
          </p:nvSpPr>
          <p:spPr>
            <a:xfrm>
              <a:off x="7267575" y="2181225"/>
              <a:ext cx="352425" cy="133350"/>
            </a:xfrm>
            <a:custGeom>
              <a:avLst/>
              <a:gdLst/>
              <a:ahLst/>
              <a:cxnLst/>
              <a:rect l="l" t="t" r="r" b="b"/>
              <a:pathLst>
                <a:path w="352425" h="133350">
                  <a:moveTo>
                    <a:pt x="352425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352425" y="133350"/>
                  </a:lnTo>
                  <a:lnTo>
                    <a:pt x="352425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72125" y="819086"/>
              <a:ext cx="1776476" cy="405295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715000" y="904875"/>
              <a:ext cx="1552575" cy="3829050"/>
            </a:xfrm>
            <a:custGeom>
              <a:avLst/>
              <a:gdLst/>
              <a:ahLst/>
              <a:cxnLst/>
              <a:rect l="l" t="t" r="r" b="b"/>
              <a:pathLst>
                <a:path w="1552575" h="3829050">
                  <a:moveTo>
                    <a:pt x="1552575" y="0"/>
                  </a:moveTo>
                  <a:lnTo>
                    <a:pt x="0" y="0"/>
                  </a:lnTo>
                  <a:lnTo>
                    <a:pt x="0" y="3829050"/>
                  </a:lnTo>
                  <a:lnTo>
                    <a:pt x="1552575" y="3829050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01606D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96076" y="1009649"/>
              <a:ext cx="605155" cy="662305"/>
            </a:xfrm>
            <a:custGeom>
              <a:avLst/>
              <a:gdLst/>
              <a:ahLst/>
              <a:cxnLst/>
              <a:rect l="l" t="t" r="r" b="b"/>
              <a:pathLst>
                <a:path w="605154" h="662305">
                  <a:moveTo>
                    <a:pt x="604774" y="319024"/>
                  </a:moveTo>
                  <a:lnTo>
                    <a:pt x="601510" y="271894"/>
                  </a:lnTo>
                  <a:lnTo>
                    <a:pt x="592061" y="226910"/>
                  </a:lnTo>
                  <a:lnTo>
                    <a:pt x="576872" y="184556"/>
                  </a:lnTo>
                  <a:lnTo>
                    <a:pt x="556425" y="145338"/>
                  </a:lnTo>
                  <a:lnTo>
                    <a:pt x="531164" y="109740"/>
                  </a:lnTo>
                  <a:lnTo>
                    <a:pt x="501573" y="78270"/>
                  </a:lnTo>
                  <a:lnTo>
                    <a:pt x="468109" y="51409"/>
                  </a:lnTo>
                  <a:lnTo>
                    <a:pt x="431228" y="29667"/>
                  </a:lnTo>
                  <a:lnTo>
                    <a:pt x="391401" y="13512"/>
                  </a:lnTo>
                  <a:lnTo>
                    <a:pt x="349110" y="3467"/>
                  </a:lnTo>
                  <a:lnTo>
                    <a:pt x="304800" y="0"/>
                  </a:lnTo>
                  <a:lnTo>
                    <a:pt x="260451" y="3467"/>
                  </a:lnTo>
                  <a:lnTo>
                    <a:pt x="218122" y="13512"/>
                  </a:lnTo>
                  <a:lnTo>
                    <a:pt x="178282" y="29667"/>
                  </a:lnTo>
                  <a:lnTo>
                    <a:pt x="141389" y="51409"/>
                  </a:lnTo>
                  <a:lnTo>
                    <a:pt x="107911" y="78270"/>
                  </a:lnTo>
                  <a:lnTo>
                    <a:pt x="78308" y="109740"/>
                  </a:lnTo>
                  <a:lnTo>
                    <a:pt x="53047" y="145338"/>
                  </a:lnTo>
                  <a:lnTo>
                    <a:pt x="32588" y="184556"/>
                  </a:lnTo>
                  <a:lnTo>
                    <a:pt x="17399" y="226910"/>
                  </a:lnTo>
                  <a:lnTo>
                    <a:pt x="7950" y="271894"/>
                  </a:lnTo>
                  <a:lnTo>
                    <a:pt x="7797" y="273989"/>
                  </a:lnTo>
                  <a:lnTo>
                    <a:pt x="3238" y="295744"/>
                  </a:lnTo>
                  <a:lnTo>
                    <a:pt x="0" y="342900"/>
                  </a:lnTo>
                  <a:lnTo>
                    <a:pt x="3238" y="390067"/>
                  </a:lnTo>
                  <a:lnTo>
                    <a:pt x="12687" y="435089"/>
                  </a:lnTo>
                  <a:lnTo>
                    <a:pt x="27863" y="477456"/>
                  </a:lnTo>
                  <a:lnTo>
                    <a:pt x="48310" y="516699"/>
                  </a:lnTo>
                  <a:lnTo>
                    <a:pt x="73545" y="552297"/>
                  </a:lnTo>
                  <a:lnTo>
                    <a:pt x="103136" y="583780"/>
                  </a:lnTo>
                  <a:lnTo>
                    <a:pt x="136601" y="610641"/>
                  </a:lnTo>
                  <a:lnTo>
                    <a:pt x="173482" y="632396"/>
                  </a:lnTo>
                  <a:lnTo>
                    <a:pt x="213309" y="648550"/>
                  </a:lnTo>
                  <a:lnTo>
                    <a:pt x="255625" y="658596"/>
                  </a:lnTo>
                  <a:lnTo>
                    <a:pt x="299974" y="662051"/>
                  </a:lnTo>
                  <a:lnTo>
                    <a:pt x="344309" y="658596"/>
                  </a:lnTo>
                  <a:lnTo>
                    <a:pt x="386638" y="648550"/>
                  </a:lnTo>
                  <a:lnTo>
                    <a:pt x="426478" y="632396"/>
                  </a:lnTo>
                  <a:lnTo>
                    <a:pt x="463372" y="610641"/>
                  </a:lnTo>
                  <a:lnTo>
                    <a:pt x="496849" y="583780"/>
                  </a:lnTo>
                  <a:lnTo>
                    <a:pt x="526453" y="552297"/>
                  </a:lnTo>
                  <a:lnTo>
                    <a:pt x="551713" y="516699"/>
                  </a:lnTo>
                  <a:lnTo>
                    <a:pt x="572173" y="477456"/>
                  </a:lnTo>
                  <a:lnTo>
                    <a:pt x="587362" y="435089"/>
                  </a:lnTo>
                  <a:lnTo>
                    <a:pt x="596811" y="390067"/>
                  </a:lnTo>
                  <a:lnTo>
                    <a:pt x="596963" y="387858"/>
                  </a:lnTo>
                  <a:lnTo>
                    <a:pt x="601510" y="366191"/>
                  </a:lnTo>
                  <a:lnTo>
                    <a:pt x="604774" y="319024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96076" y="1033526"/>
              <a:ext cx="600075" cy="638175"/>
            </a:xfrm>
            <a:custGeom>
              <a:avLst/>
              <a:gdLst/>
              <a:ahLst/>
              <a:cxnLst/>
              <a:rect l="l" t="t" r="r" b="b"/>
              <a:pathLst>
                <a:path w="600075" h="638175">
                  <a:moveTo>
                    <a:pt x="0" y="319024"/>
                  </a:moveTo>
                  <a:lnTo>
                    <a:pt x="3251" y="271862"/>
                  </a:lnTo>
                  <a:lnTo>
                    <a:pt x="12695" y="226855"/>
                  </a:lnTo>
                  <a:lnTo>
                    <a:pt x="27869" y="184495"/>
                  </a:lnTo>
                  <a:lnTo>
                    <a:pt x="48311" y="145275"/>
                  </a:lnTo>
                  <a:lnTo>
                    <a:pt x="73556" y="109686"/>
                  </a:lnTo>
                  <a:lnTo>
                    <a:pt x="103143" y="78222"/>
                  </a:lnTo>
                  <a:lnTo>
                    <a:pt x="136606" y="51375"/>
                  </a:lnTo>
                  <a:lnTo>
                    <a:pt x="173484" y="29637"/>
                  </a:lnTo>
                  <a:lnTo>
                    <a:pt x="213314" y="13500"/>
                  </a:lnTo>
                  <a:lnTo>
                    <a:pt x="255631" y="3457"/>
                  </a:lnTo>
                  <a:lnTo>
                    <a:pt x="299974" y="0"/>
                  </a:lnTo>
                  <a:lnTo>
                    <a:pt x="344319" y="3457"/>
                  </a:lnTo>
                  <a:lnTo>
                    <a:pt x="386644" y="13500"/>
                  </a:lnTo>
                  <a:lnTo>
                    <a:pt x="426486" y="29637"/>
                  </a:lnTo>
                  <a:lnTo>
                    <a:pt x="463379" y="51375"/>
                  </a:lnTo>
                  <a:lnTo>
                    <a:pt x="496859" y="78222"/>
                  </a:lnTo>
                  <a:lnTo>
                    <a:pt x="526463" y="109686"/>
                  </a:lnTo>
                  <a:lnTo>
                    <a:pt x="551725" y="145275"/>
                  </a:lnTo>
                  <a:lnTo>
                    <a:pt x="572181" y="184495"/>
                  </a:lnTo>
                  <a:lnTo>
                    <a:pt x="587368" y="226855"/>
                  </a:lnTo>
                  <a:lnTo>
                    <a:pt x="596820" y="271862"/>
                  </a:lnTo>
                  <a:lnTo>
                    <a:pt x="600075" y="319024"/>
                  </a:lnTo>
                  <a:lnTo>
                    <a:pt x="596820" y="366188"/>
                  </a:lnTo>
                  <a:lnTo>
                    <a:pt x="587368" y="411204"/>
                  </a:lnTo>
                  <a:lnTo>
                    <a:pt x="572181" y="453575"/>
                  </a:lnTo>
                  <a:lnTo>
                    <a:pt x="551725" y="492811"/>
                  </a:lnTo>
                  <a:lnTo>
                    <a:pt x="526463" y="528416"/>
                  </a:lnTo>
                  <a:lnTo>
                    <a:pt x="496859" y="559897"/>
                  </a:lnTo>
                  <a:lnTo>
                    <a:pt x="463379" y="586761"/>
                  </a:lnTo>
                  <a:lnTo>
                    <a:pt x="426486" y="608514"/>
                  </a:lnTo>
                  <a:lnTo>
                    <a:pt x="386644" y="624663"/>
                  </a:lnTo>
                  <a:lnTo>
                    <a:pt x="344319" y="634714"/>
                  </a:lnTo>
                  <a:lnTo>
                    <a:pt x="299974" y="638175"/>
                  </a:lnTo>
                  <a:lnTo>
                    <a:pt x="255631" y="634714"/>
                  </a:lnTo>
                  <a:lnTo>
                    <a:pt x="213314" y="624663"/>
                  </a:lnTo>
                  <a:lnTo>
                    <a:pt x="173484" y="608514"/>
                  </a:lnTo>
                  <a:lnTo>
                    <a:pt x="136606" y="586761"/>
                  </a:lnTo>
                  <a:lnTo>
                    <a:pt x="103143" y="559897"/>
                  </a:lnTo>
                  <a:lnTo>
                    <a:pt x="73556" y="528416"/>
                  </a:lnTo>
                  <a:lnTo>
                    <a:pt x="48311" y="492811"/>
                  </a:lnTo>
                  <a:lnTo>
                    <a:pt x="27869" y="453575"/>
                  </a:lnTo>
                  <a:lnTo>
                    <a:pt x="12695" y="411204"/>
                  </a:lnTo>
                  <a:lnTo>
                    <a:pt x="3251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438646" y="1190053"/>
            <a:ext cx="1428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82970" y="1941766"/>
            <a:ext cx="104140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250" b="1" spc="-10" dirty="0">
                <a:solidFill>
                  <a:srgbClr val="FFFFFF"/>
                </a:solidFill>
                <a:latin typeface="Georgia"/>
                <a:cs typeface="Georgia"/>
              </a:rPr>
              <a:t>Aggregation</a:t>
            </a:r>
            <a:endParaRPr sz="125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95340" y="2414587"/>
            <a:ext cx="1136650" cy="1741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>
              <a:lnSpc>
                <a:spcPct val="100299"/>
              </a:lnSpc>
              <a:spcBef>
                <a:spcPts val="12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Server aggregates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weights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using FedAvg (weighted average)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FedProx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(with proximal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term).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458075" y="819086"/>
            <a:ext cx="1685925" cy="4053204"/>
            <a:chOff x="7458075" y="819086"/>
            <a:chExt cx="1685925" cy="4053204"/>
          </a:xfrm>
        </p:grpSpPr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58075" y="819086"/>
              <a:ext cx="1685925" cy="405295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600950" y="904875"/>
              <a:ext cx="1543050" cy="3829050"/>
            </a:xfrm>
            <a:custGeom>
              <a:avLst/>
              <a:gdLst/>
              <a:ahLst/>
              <a:cxnLst/>
              <a:rect l="l" t="t" r="r" b="b"/>
              <a:pathLst>
                <a:path w="1543050" h="3829050">
                  <a:moveTo>
                    <a:pt x="1543050" y="0"/>
                  </a:moveTo>
                  <a:lnTo>
                    <a:pt x="0" y="0"/>
                  </a:lnTo>
                  <a:lnTo>
                    <a:pt x="0" y="3829050"/>
                  </a:lnTo>
                  <a:lnTo>
                    <a:pt x="1543050" y="3829050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0160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72501" y="1009649"/>
              <a:ext cx="605155" cy="643255"/>
            </a:xfrm>
            <a:custGeom>
              <a:avLst/>
              <a:gdLst/>
              <a:ahLst/>
              <a:cxnLst/>
              <a:rect l="l" t="t" r="r" b="b"/>
              <a:pathLst>
                <a:path w="605154" h="643255">
                  <a:moveTo>
                    <a:pt x="604774" y="319024"/>
                  </a:moveTo>
                  <a:lnTo>
                    <a:pt x="601510" y="271894"/>
                  </a:lnTo>
                  <a:lnTo>
                    <a:pt x="592061" y="226910"/>
                  </a:lnTo>
                  <a:lnTo>
                    <a:pt x="576872" y="184556"/>
                  </a:lnTo>
                  <a:lnTo>
                    <a:pt x="556425" y="145338"/>
                  </a:lnTo>
                  <a:lnTo>
                    <a:pt x="531164" y="109740"/>
                  </a:lnTo>
                  <a:lnTo>
                    <a:pt x="501573" y="78270"/>
                  </a:lnTo>
                  <a:lnTo>
                    <a:pt x="468109" y="51409"/>
                  </a:lnTo>
                  <a:lnTo>
                    <a:pt x="431228" y="29667"/>
                  </a:lnTo>
                  <a:lnTo>
                    <a:pt x="391401" y="13512"/>
                  </a:lnTo>
                  <a:lnTo>
                    <a:pt x="349110" y="3467"/>
                  </a:lnTo>
                  <a:lnTo>
                    <a:pt x="304800" y="0"/>
                  </a:lnTo>
                  <a:lnTo>
                    <a:pt x="260451" y="3467"/>
                  </a:lnTo>
                  <a:lnTo>
                    <a:pt x="218122" y="13512"/>
                  </a:lnTo>
                  <a:lnTo>
                    <a:pt x="178282" y="29667"/>
                  </a:lnTo>
                  <a:lnTo>
                    <a:pt x="141389" y="51409"/>
                  </a:lnTo>
                  <a:lnTo>
                    <a:pt x="107911" y="78270"/>
                  </a:lnTo>
                  <a:lnTo>
                    <a:pt x="104241" y="82181"/>
                  </a:lnTo>
                  <a:lnTo>
                    <a:pt x="103136" y="83058"/>
                  </a:lnTo>
                  <a:lnTo>
                    <a:pt x="73545" y="114515"/>
                  </a:lnTo>
                  <a:lnTo>
                    <a:pt x="48310" y="150101"/>
                  </a:lnTo>
                  <a:lnTo>
                    <a:pt x="27863" y="189331"/>
                  </a:lnTo>
                  <a:lnTo>
                    <a:pt x="12687" y="231686"/>
                  </a:lnTo>
                  <a:lnTo>
                    <a:pt x="3238" y="276694"/>
                  </a:lnTo>
                  <a:lnTo>
                    <a:pt x="0" y="323850"/>
                  </a:lnTo>
                  <a:lnTo>
                    <a:pt x="3238" y="371017"/>
                  </a:lnTo>
                  <a:lnTo>
                    <a:pt x="12687" y="416039"/>
                  </a:lnTo>
                  <a:lnTo>
                    <a:pt x="27863" y="458406"/>
                  </a:lnTo>
                  <a:lnTo>
                    <a:pt x="48310" y="497649"/>
                  </a:lnTo>
                  <a:lnTo>
                    <a:pt x="73545" y="533247"/>
                  </a:lnTo>
                  <a:lnTo>
                    <a:pt x="103136" y="564730"/>
                  </a:lnTo>
                  <a:lnTo>
                    <a:pt x="136601" y="591591"/>
                  </a:lnTo>
                  <a:lnTo>
                    <a:pt x="173482" y="613346"/>
                  </a:lnTo>
                  <a:lnTo>
                    <a:pt x="213309" y="629500"/>
                  </a:lnTo>
                  <a:lnTo>
                    <a:pt x="255625" y="639546"/>
                  </a:lnTo>
                  <a:lnTo>
                    <a:pt x="299974" y="643001"/>
                  </a:lnTo>
                  <a:lnTo>
                    <a:pt x="344309" y="639546"/>
                  </a:lnTo>
                  <a:lnTo>
                    <a:pt x="386638" y="629500"/>
                  </a:lnTo>
                  <a:lnTo>
                    <a:pt x="426478" y="613346"/>
                  </a:lnTo>
                  <a:lnTo>
                    <a:pt x="463372" y="591591"/>
                  </a:lnTo>
                  <a:lnTo>
                    <a:pt x="496849" y="564730"/>
                  </a:lnTo>
                  <a:lnTo>
                    <a:pt x="500811" y="560527"/>
                  </a:lnTo>
                  <a:lnTo>
                    <a:pt x="501573" y="559904"/>
                  </a:lnTo>
                  <a:lnTo>
                    <a:pt x="531164" y="528421"/>
                  </a:lnTo>
                  <a:lnTo>
                    <a:pt x="556425" y="492823"/>
                  </a:lnTo>
                  <a:lnTo>
                    <a:pt x="576872" y="453580"/>
                  </a:lnTo>
                  <a:lnTo>
                    <a:pt x="592061" y="411213"/>
                  </a:lnTo>
                  <a:lnTo>
                    <a:pt x="601510" y="366191"/>
                  </a:lnTo>
                  <a:lnTo>
                    <a:pt x="604774" y="319024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72501" y="1014476"/>
              <a:ext cx="600075" cy="638175"/>
            </a:xfrm>
            <a:custGeom>
              <a:avLst/>
              <a:gdLst/>
              <a:ahLst/>
              <a:cxnLst/>
              <a:rect l="l" t="t" r="r" b="b"/>
              <a:pathLst>
                <a:path w="600075" h="638175">
                  <a:moveTo>
                    <a:pt x="0" y="319024"/>
                  </a:moveTo>
                  <a:lnTo>
                    <a:pt x="3251" y="271862"/>
                  </a:lnTo>
                  <a:lnTo>
                    <a:pt x="12695" y="226855"/>
                  </a:lnTo>
                  <a:lnTo>
                    <a:pt x="27869" y="184495"/>
                  </a:lnTo>
                  <a:lnTo>
                    <a:pt x="48311" y="145275"/>
                  </a:lnTo>
                  <a:lnTo>
                    <a:pt x="73556" y="109686"/>
                  </a:lnTo>
                  <a:lnTo>
                    <a:pt x="103143" y="78222"/>
                  </a:lnTo>
                  <a:lnTo>
                    <a:pt x="136606" y="51375"/>
                  </a:lnTo>
                  <a:lnTo>
                    <a:pt x="173484" y="29637"/>
                  </a:lnTo>
                  <a:lnTo>
                    <a:pt x="213314" y="13500"/>
                  </a:lnTo>
                  <a:lnTo>
                    <a:pt x="255631" y="3457"/>
                  </a:lnTo>
                  <a:lnTo>
                    <a:pt x="299974" y="0"/>
                  </a:lnTo>
                  <a:lnTo>
                    <a:pt x="344319" y="3457"/>
                  </a:lnTo>
                  <a:lnTo>
                    <a:pt x="386644" y="13500"/>
                  </a:lnTo>
                  <a:lnTo>
                    <a:pt x="426486" y="29637"/>
                  </a:lnTo>
                  <a:lnTo>
                    <a:pt x="463379" y="51375"/>
                  </a:lnTo>
                  <a:lnTo>
                    <a:pt x="496859" y="78222"/>
                  </a:lnTo>
                  <a:lnTo>
                    <a:pt x="526463" y="109686"/>
                  </a:lnTo>
                  <a:lnTo>
                    <a:pt x="551725" y="145275"/>
                  </a:lnTo>
                  <a:lnTo>
                    <a:pt x="572181" y="184495"/>
                  </a:lnTo>
                  <a:lnTo>
                    <a:pt x="587368" y="226855"/>
                  </a:lnTo>
                  <a:lnTo>
                    <a:pt x="596820" y="271862"/>
                  </a:lnTo>
                  <a:lnTo>
                    <a:pt x="600075" y="319024"/>
                  </a:lnTo>
                  <a:lnTo>
                    <a:pt x="596820" y="366188"/>
                  </a:lnTo>
                  <a:lnTo>
                    <a:pt x="587368" y="411204"/>
                  </a:lnTo>
                  <a:lnTo>
                    <a:pt x="572181" y="453575"/>
                  </a:lnTo>
                  <a:lnTo>
                    <a:pt x="551725" y="492811"/>
                  </a:lnTo>
                  <a:lnTo>
                    <a:pt x="526463" y="528416"/>
                  </a:lnTo>
                  <a:lnTo>
                    <a:pt x="496859" y="559897"/>
                  </a:lnTo>
                  <a:lnTo>
                    <a:pt x="463379" y="586761"/>
                  </a:lnTo>
                  <a:lnTo>
                    <a:pt x="426486" y="608514"/>
                  </a:lnTo>
                  <a:lnTo>
                    <a:pt x="386644" y="624663"/>
                  </a:lnTo>
                  <a:lnTo>
                    <a:pt x="344319" y="634714"/>
                  </a:lnTo>
                  <a:lnTo>
                    <a:pt x="299974" y="638175"/>
                  </a:lnTo>
                  <a:lnTo>
                    <a:pt x="255631" y="634714"/>
                  </a:lnTo>
                  <a:lnTo>
                    <a:pt x="213314" y="624663"/>
                  </a:lnTo>
                  <a:lnTo>
                    <a:pt x="173484" y="608514"/>
                  </a:lnTo>
                  <a:lnTo>
                    <a:pt x="136606" y="586761"/>
                  </a:lnTo>
                  <a:lnTo>
                    <a:pt x="103143" y="559897"/>
                  </a:lnTo>
                  <a:lnTo>
                    <a:pt x="73556" y="528416"/>
                  </a:lnTo>
                  <a:lnTo>
                    <a:pt x="48311" y="492811"/>
                  </a:lnTo>
                  <a:lnTo>
                    <a:pt x="27869" y="453575"/>
                  </a:lnTo>
                  <a:lnTo>
                    <a:pt x="12695" y="411204"/>
                  </a:lnTo>
                  <a:lnTo>
                    <a:pt x="3251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25231" y="1190053"/>
            <a:ext cx="1333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085835" y="1941766"/>
            <a:ext cx="60071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250" b="1" spc="-10" dirty="0">
                <a:solidFill>
                  <a:srgbClr val="FFFFFF"/>
                </a:solidFill>
                <a:latin typeface="Georgia"/>
                <a:cs typeface="Georgia"/>
              </a:rPr>
              <a:t>Repeat</a:t>
            </a:r>
            <a:endParaRPr sz="125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77226" y="2414587"/>
            <a:ext cx="1144905" cy="1531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5080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Updated</a:t>
            </a:r>
            <a:r>
              <a:rPr sz="1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global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broadcast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back.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cycle repeats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communication rounds.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05991" y="4839970"/>
            <a:ext cx="555053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This</a:t>
            </a:r>
            <a:r>
              <a:rPr sz="1100" i="1" spc="15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constitutes</a:t>
            </a:r>
            <a:r>
              <a:rPr sz="1100" i="1" spc="2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one</a:t>
            </a:r>
            <a:r>
              <a:rPr sz="1100" i="1" spc="8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full</a:t>
            </a:r>
            <a:r>
              <a:rPr sz="1100" i="1" spc="55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federated</a:t>
            </a:r>
            <a:r>
              <a:rPr sz="1100" i="1" spc="11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learning</a:t>
            </a:r>
            <a:r>
              <a:rPr sz="1100" i="1" spc="3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round.</a:t>
            </a:r>
            <a:r>
              <a:rPr sz="1100" i="1" spc="25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Our</a:t>
            </a:r>
            <a:r>
              <a:rPr sz="1100" i="1" spc="8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experiment</a:t>
            </a:r>
            <a:r>
              <a:rPr sz="1100" i="1" spc="9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ran</a:t>
            </a:r>
            <a:r>
              <a:rPr sz="1100" i="1" spc="3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5</a:t>
            </a:r>
            <a:r>
              <a:rPr sz="1100" i="1" spc="12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rounds</a:t>
            </a:r>
            <a:r>
              <a:rPr sz="1100" i="1" spc="11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with</a:t>
            </a:r>
            <a:r>
              <a:rPr sz="1100" i="1" spc="30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736E6E"/>
                </a:solidFill>
                <a:latin typeface="Calibri"/>
                <a:cs typeface="Calibri"/>
              </a:rPr>
              <a:t>5</a:t>
            </a:r>
            <a:r>
              <a:rPr sz="1100" i="1" spc="35" dirty="0">
                <a:solidFill>
                  <a:srgbClr val="736E6E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736E6E"/>
                </a:solidFill>
                <a:latin typeface="Calibri"/>
                <a:cs typeface="Calibri"/>
              </a:rPr>
              <a:t>clients.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514725" y="2095436"/>
            <a:ext cx="4072254" cy="328930"/>
            <a:chOff x="3514725" y="2095436"/>
            <a:chExt cx="4072254" cy="328930"/>
          </a:xfrm>
        </p:grpSpPr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14725" y="2095436"/>
              <a:ext cx="309562" cy="32861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0675" y="2095436"/>
              <a:ext cx="319087" cy="32861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7100" y="2095436"/>
              <a:ext cx="309562" cy="3286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67965">
              <a:lnSpc>
                <a:spcPct val="100000"/>
              </a:lnSpc>
              <a:spcBef>
                <a:spcPts val="130"/>
              </a:spcBef>
            </a:pPr>
            <a:r>
              <a:rPr dirty="0"/>
              <a:t>FedAvg</a:t>
            </a:r>
            <a:r>
              <a:rPr spc="100" dirty="0"/>
              <a:t> </a:t>
            </a:r>
            <a:r>
              <a:rPr dirty="0"/>
              <a:t>vs</a:t>
            </a:r>
            <a:r>
              <a:rPr spc="105" dirty="0"/>
              <a:t> </a:t>
            </a:r>
            <a:r>
              <a:rPr spc="-10" dirty="0"/>
              <a:t>FedProx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647" y="742835"/>
            <a:ext cx="4138929" cy="4329430"/>
            <a:chOff x="266647" y="742835"/>
            <a:chExt cx="4138929" cy="43294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647" y="742835"/>
              <a:ext cx="4138771" cy="43292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1949" y="781049"/>
              <a:ext cx="4000500" cy="4200525"/>
            </a:xfrm>
            <a:custGeom>
              <a:avLst/>
              <a:gdLst/>
              <a:ahLst/>
              <a:cxnLst/>
              <a:rect l="l" t="t" r="r" b="b"/>
              <a:pathLst>
                <a:path w="4000500" h="4200525">
                  <a:moveTo>
                    <a:pt x="4000500" y="0"/>
                  </a:moveTo>
                  <a:lnTo>
                    <a:pt x="0" y="0"/>
                  </a:lnTo>
                  <a:lnTo>
                    <a:pt x="0" y="4200525"/>
                  </a:lnTo>
                  <a:lnTo>
                    <a:pt x="4000500" y="4200525"/>
                  </a:lnTo>
                  <a:lnTo>
                    <a:pt x="400050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6724" y="1333500"/>
              <a:ext cx="3762375" cy="28575"/>
            </a:xfrm>
            <a:custGeom>
              <a:avLst/>
              <a:gdLst/>
              <a:ahLst/>
              <a:cxnLst/>
              <a:rect l="l" t="t" r="r" b="b"/>
              <a:pathLst>
                <a:path w="3762375" h="28575">
                  <a:moveTo>
                    <a:pt x="3762375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3762375" y="28575"/>
                  </a:lnTo>
                  <a:lnTo>
                    <a:pt x="3762375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1950" y="781050"/>
            <a:ext cx="4000500" cy="420052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222250" algn="ctr">
              <a:lnSpc>
                <a:spcPct val="100000"/>
              </a:lnSpc>
              <a:spcBef>
                <a:spcPts val="1350"/>
              </a:spcBef>
            </a:pPr>
            <a:r>
              <a:rPr sz="1800" b="1" spc="-10" dirty="0">
                <a:solidFill>
                  <a:srgbClr val="FFFFFF"/>
                </a:solidFill>
                <a:latin typeface="Georgia"/>
                <a:cs typeface="Georgia"/>
              </a:rPr>
              <a:t>FedAvg</a:t>
            </a:r>
            <a:endParaRPr sz="1800">
              <a:latin typeface="Georgia"/>
              <a:cs typeface="Georgia"/>
            </a:endParaRPr>
          </a:p>
          <a:p>
            <a:pPr marL="542925" indent="-342900">
              <a:lnSpc>
                <a:spcPct val="100000"/>
              </a:lnSpc>
              <a:spcBef>
                <a:spcPts val="1760"/>
              </a:spcBef>
              <a:buChar char="•"/>
              <a:tabLst>
                <a:tab pos="54292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weighted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averaging</a:t>
            </a:r>
            <a:endParaRPr sz="1400">
              <a:latin typeface="Calibri"/>
              <a:cs typeface="Calibri"/>
            </a:endParaRPr>
          </a:p>
          <a:p>
            <a:pPr marL="542925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4292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regularisation</a:t>
            </a:r>
            <a:r>
              <a:rPr sz="14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400">
              <a:latin typeface="Calibri"/>
              <a:cs typeface="Calibri"/>
            </a:endParaRPr>
          </a:p>
          <a:p>
            <a:pPr marL="542925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42925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IID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542925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4292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Simpler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computation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1400">
              <a:latin typeface="Calibri"/>
              <a:cs typeface="Calibri"/>
            </a:endParaRPr>
          </a:p>
          <a:p>
            <a:pPr marL="542925" indent="-342900">
              <a:lnSpc>
                <a:spcPct val="100000"/>
              </a:lnSpc>
              <a:spcBef>
                <a:spcPts val="1705"/>
              </a:spcBef>
              <a:buChar char="•"/>
              <a:tabLst>
                <a:tab pos="542925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Faster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round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(148.66s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total)</a:t>
            </a:r>
            <a:endParaRPr sz="1400">
              <a:latin typeface="Calibri"/>
              <a:cs typeface="Calibri"/>
            </a:endParaRPr>
          </a:p>
          <a:p>
            <a:pPr marL="542925" indent="-342900">
              <a:lnSpc>
                <a:spcPct val="100000"/>
              </a:lnSpc>
              <a:spcBef>
                <a:spcPts val="1625"/>
              </a:spcBef>
              <a:buChar char="•"/>
              <a:tabLst>
                <a:tab pos="54292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accuracy: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99.88%</a:t>
            </a:r>
            <a:endParaRPr sz="1400">
              <a:latin typeface="Calibri"/>
              <a:cs typeface="Calibri"/>
            </a:endParaRPr>
          </a:p>
          <a:p>
            <a:pPr marL="542925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4292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trade-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off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1400">
              <a:latin typeface="Calibri"/>
              <a:cs typeface="Calibri"/>
            </a:endParaRPr>
          </a:p>
          <a:p>
            <a:pPr marL="542925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4292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Lower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overhead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38647" y="742835"/>
            <a:ext cx="4148454" cy="4329430"/>
            <a:chOff x="4838647" y="742835"/>
            <a:chExt cx="4148454" cy="43294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8647" y="742835"/>
              <a:ext cx="4148306" cy="43292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33949" y="781049"/>
              <a:ext cx="4019550" cy="4200525"/>
            </a:xfrm>
            <a:custGeom>
              <a:avLst/>
              <a:gdLst/>
              <a:ahLst/>
              <a:cxnLst/>
              <a:rect l="l" t="t" r="r" b="b"/>
              <a:pathLst>
                <a:path w="4019550" h="4200525">
                  <a:moveTo>
                    <a:pt x="4019550" y="0"/>
                  </a:moveTo>
                  <a:lnTo>
                    <a:pt x="0" y="0"/>
                  </a:lnTo>
                  <a:lnTo>
                    <a:pt x="0" y="4200525"/>
                  </a:lnTo>
                  <a:lnTo>
                    <a:pt x="4019550" y="4200525"/>
                  </a:lnTo>
                  <a:lnTo>
                    <a:pt x="4019550" y="0"/>
                  </a:lnTo>
                  <a:close/>
                </a:path>
              </a:pathLst>
            </a:custGeom>
            <a:solidFill>
              <a:srgbClr val="018090">
                <a:alpha val="6392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57774" y="1343025"/>
              <a:ext cx="3733800" cy="19050"/>
            </a:xfrm>
            <a:custGeom>
              <a:avLst/>
              <a:gdLst/>
              <a:ahLst/>
              <a:cxnLst/>
              <a:rect l="l" t="t" r="r" b="b"/>
              <a:pathLst>
                <a:path w="3733800" h="19050">
                  <a:moveTo>
                    <a:pt x="37338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733800" y="19050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33950" y="781050"/>
            <a:ext cx="4019550" cy="420052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203835" algn="ctr">
              <a:lnSpc>
                <a:spcPct val="100000"/>
              </a:lnSpc>
              <a:spcBef>
                <a:spcPts val="1350"/>
              </a:spcBef>
            </a:pPr>
            <a:r>
              <a:rPr sz="1800" b="1" spc="-10" dirty="0">
                <a:solidFill>
                  <a:srgbClr val="FFFFFF"/>
                </a:solidFill>
                <a:latin typeface="Georgia"/>
                <a:cs typeface="Georgia"/>
              </a:rPr>
              <a:t>FedProx</a:t>
            </a:r>
            <a:endParaRPr sz="1800">
              <a:latin typeface="Georgia"/>
              <a:cs typeface="Georgia"/>
            </a:endParaRPr>
          </a:p>
          <a:p>
            <a:pPr marL="580390" indent="-342900">
              <a:lnSpc>
                <a:spcPct val="100000"/>
              </a:lnSpc>
              <a:spcBef>
                <a:spcPts val="1760"/>
              </a:spcBef>
              <a:buChar char="•"/>
              <a:tabLst>
                <a:tab pos="58039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Adds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proximal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regularisation</a:t>
            </a:r>
            <a:endParaRPr sz="1400">
              <a:latin typeface="Calibri"/>
              <a:cs typeface="Calibri"/>
            </a:endParaRPr>
          </a:p>
          <a:p>
            <a:pPr marL="580390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8039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Controls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drift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μ</a:t>
            </a:r>
            <a:r>
              <a:rPr sz="1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400">
              <a:latin typeface="Calibri"/>
              <a:cs typeface="Calibri"/>
            </a:endParaRPr>
          </a:p>
          <a:p>
            <a:pPr marL="580390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8039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Better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non-IID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heterogeneous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580390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8039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Slightly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heavier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per-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endParaRPr sz="1400">
              <a:latin typeface="Calibri"/>
              <a:cs typeface="Calibri"/>
            </a:endParaRPr>
          </a:p>
          <a:p>
            <a:pPr marL="580390" indent="-342900">
              <a:lnSpc>
                <a:spcPct val="100000"/>
              </a:lnSpc>
              <a:spcBef>
                <a:spcPts val="1705"/>
              </a:spcBef>
              <a:buChar char="•"/>
              <a:tabLst>
                <a:tab pos="58039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Slower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stable</a:t>
            </a:r>
            <a:r>
              <a:rPr sz="1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(174.39s)</a:t>
            </a:r>
            <a:endParaRPr sz="1400">
              <a:latin typeface="Calibri"/>
              <a:cs typeface="Calibri"/>
            </a:endParaRPr>
          </a:p>
          <a:p>
            <a:pPr marL="580390" indent="-342900">
              <a:lnSpc>
                <a:spcPct val="100000"/>
              </a:lnSpc>
              <a:spcBef>
                <a:spcPts val="1625"/>
              </a:spcBef>
              <a:buChar char="•"/>
              <a:tabLst>
                <a:tab pos="58039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accuracy: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99.95%</a:t>
            </a:r>
            <a:endParaRPr sz="1400">
              <a:latin typeface="Calibri"/>
              <a:cs typeface="Calibri"/>
            </a:endParaRPr>
          </a:p>
          <a:p>
            <a:pPr marL="580390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80390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Recommended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non-IID</a:t>
            </a: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settings</a:t>
            </a:r>
            <a:endParaRPr sz="1400">
              <a:latin typeface="Calibri"/>
              <a:cs typeface="Calibri"/>
            </a:endParaRPr>
          </a:p>
          <a:p>
            <a:pPr marL="580390" indent="-342900">
              <a:lnSpc>
                <a:spcPct val="100000"/>
              </a:lnSpc>
              <a:spcBef>
                <a:spcPts val="1700"/>
              </a:spcBef>
              <a:buChar char="•"/>
              <a:tabLst>
                <a:tab pos="58039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Higher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computation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638175"/>
              <a:ext cx="9144000" cy="4505325"/>
            </a:xfrm>
            <a:custGeom>
              <a:avLst/>
              <a:gdLst/>
              <a:ahLst/>
              <a:cxnLst/>
              <a:rect l="l" t="t" r="r" b="b"/>
              <a:pathLst>
                <a:path w="9144000" h="4505325">
                  <a:moveTo>
                    <a:pt x="0" y="4505324"/>
                  </a:moveTo>
                  <a:lnTo>
                    <a:pt x="9144000" y="450532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505324"/>
                  </a:lnTo>
                  <a:close/>
                </a:path>
              </a:pathLst>
            </a:custGeom>
            <a:solidFill>
              <a:srgbClr val="D0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38175"/>
            </a:xfrm>
            <a:custGeom>
              <a:avLst/>
              <a:gdLst/>
              <a:ahLst/>
              <a:cxnLst/>
              <a:rect l="l" t="t" r="r" b="b"/>
              <a:pathLst>
                <a:path w="9144000" h="638175">
                  <a:moveTo>
                    <a:pt x="9144000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9144000" y="6381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9405">
              <a:lnSpc>
                <a:spcPct val="100000"/>
              </a:lnSpc>
              <a:spcBef>
                <a:spcPts val="130"/>
              </a:spcBef>
            </a:pPr>
            <a:r>
              <a:rPr dirty="0"/>
              <a:t>FedAvg</a:t>
            </a:r>
            <a:r>
              <a:rPr spc="100" dirty="0"/>
              <a:t> </a:t>
            </a:r>
            <a:r>
              <a:rPr dirty="0"/>
              <a:t>vs</a:t>
            </a:r>
            <a:r>
              <a:rPr spc="105" dirty="0"/>
              <a:t> </a:t>
            </a:r>
            <a:r>
              <a:rPr spc="-10" dirty="0"/>
              <a:t>FedProx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751451" y="1370075"/>
            <a:ext cx="4298950" cy="2546350"/>
            <a:chOff x="4751451" y="1370075"/>
            <a:chExt cx="4298950" cy="2546350"/>
          </a:xfrm>
        </p:grpSpPr>
        <p:sp>
          <p:nvSpPr>
            <p:cNvPr id="7" name="object 7"/>
            <p:cNvSpPr/>
            <p:nvPr/>
          </p:nvSpPr>
          <p:spPr>
            <a:xfrm>
              <a:off x="4757801" y="1376425"/>
              <a:ext cx="4286250" cy="2533650"/>
            </a:xfrm>
            <a:custGeom>
              <a:avLst/>
              <a:gdLst/>
              <a:ahLst/>
              <a:cxnLst/>
              <a:rect l="l" t="t" r="r" b="b"/>
              <a:pathLst>
                <a:path w="4286250" h="2533650">
                  <a:moveTo>
                    <a:pt x="3863848" y="0"/>
                  </a:moveTo>
                  <a:lnTo>
                    <a:pt x="422275" y="0"/>
                  </a:lnTo>
                  <a:lnTo>
                    <a:pt x="373013" y="2839"/>
                  </a:lnTo>
                  <a:lnTo>
                    <a:pt x="325425" y="11148"/>
                  </a:lnTo>
                  <a:lnTo>
                    <a:pt x="279826" y="24609"/>
                  </a:lnTo>
                  <a:lnTo>
                    <a:pt x="236532" y="42906"/>
                  </a:lnTo>
                  <a:lnTo>
                    <a:pt x="195861" y="65722"/>
                  </a:lnTo>
                  <a:lnTo>
                    <a:pt x="158128" y="92742"/>
                  </a:lnTo>
                  <a:lnTo>
                    <a:pt x="123650" y="123650"/>
                  </a:lnTo>
                  <a:lnTo>
                    <a:pt x="92742" y="158128"/>
                  </a:lnTo>
                  <a:lnTo>
                    <a:pt x="65722" y="195861"/>
                  </a:lnTo>
                  <a:lnTo>
                    <a:pt x="42906" y="236532"/>
                  </a:lnTo>
                  <a:lnTo>
                    <a:pt x="24609" y="279826"/>
                  </a:lnTo>
                  <a:lnTo>
                    <a:pt x="11148" y="325425"/>
                  </a:lnTo>
                  <a:lnTo>
                    <a:pt x="2839" y="373013"/>
                  </a:lnTo>
                  <a:lnTo>
                    <a:pt x="0" y="422275"/>
                  </a:lnTo>
                  <a:lnTo>
                    <a:pt x="0" y="2111248"/>
                  </a:lnTo>
                  <a:lnTo>
                    <a:pt x="2839" y="2160510"/>
                  </a:lnTo>
                  <a:lnTo>
                    <a:pt x="11148" y="2208101"/>
                  </a:lnTo>
                  <a:lnTo>
                    <a:pt x="24609" y="2253704"/>
                  </a:lnTo>
                  <a:lnTo>
                    <a:pt x="42906" y="2297002"/>
                  </a:lnTo>
                  <a:lnTo>
                    <a:pt x="65722" y="2337679"/>
                  </a:lnTo>
                  <a:lnTo>
                    <a:pt x="92742" y="2375419"/>
                  </a:lnTo>
                  <a:lnTo>
                    <a:pt x="123650" y="2409904"/>
                  </a:lnTo>
                  <a:lnTo>
                    <a:pt x="158128" y="2440818"/>
                  </a:lnTo>
                  <a:lnTo>
                    <a:pt x="195861" y="2467845"/>
                  </a:lnTo>
                  <a:lnTo>
                    <a:pt x="236532" y="2490667"/>
                  </a:lnTo>
                  <a:lnTo>
                    <a:pt x="279826" y="2508969"/>
                  </a:lnTo>
                  <a:lnTo>
                    <a:pt x="325425" y="2522434"/>
                  </a:lnTo>
                  <a:lnTo>
                    <a:pt x="373013" y="2530745"/>
                  </a:lnTo>
                  <a:lnTo>
                    <a:pt x="422275" y="2533586"/>
                  </a:lnTo>
                  <a:lnTo>
                    <a:pt x="3863848" y="2533586"/>
                  </a:lnTo>
                  <a:lnTo>
                    <a:pt x="3913111" y="2530745"/>
                  </a:lnTo>
                  <a:lnTo>
                    <a:pt x="3960704" y="2522434"/>
                  </a:lnTo>
                  <a:lnTo>
                    <a:pt x="4006311" y="2508969"/>
                  </a:lnTo>
                  <a:lnTo>
                    <a:pt x="4049615" y="2490667"/>
                  </a:lnTo>
                  <a:lnTo>
                    <a:pt x="4090298" y="2467845"/>
                  </a:lnTo>
                  <a:lnTo>
                    <a:pt x="4128044" y="2440818"/>
                  </a:lnTo>
                  <a:lnTo>
                    <a:pt x="4162536" y="2409904"/>
                  </a:lnTo>
                  <a:lnTo>
                    <a:pt x="4193457" y="2375419"/>
                  </a:lnTo>
                  <a:lnTo>
                    <a:pt x="4220490" y="2337679"/>
                  </a:lnTo>
                  <a:lnTo>
                    <a:pt x="4243318" y="2297002"/>
                  </a:lnTo>
                  <a:lnTo>
                    <a:pt x="4261625" y="2253704"/>
                  </a:lnTo>
                  <a:lnTo>
                    <a:pt x="4275094" y="2208101"/>
                  </a:lnTo>
                  <a:lnTo>
                    <a:pt x="4283408" y="2160510"/>
                  </a:lnTo>
                  <a:lnTo>
                    <a:pt x="4286250" y="2111248"/>
                  </a:lnTo>
                  <a:lnTo>
                    <a:pt x="4286250" y="422275"/>
                  </a:lnTo>
                  <a:lnTo>
                    <a:pt x="4283408" y="373013"/>
                  </a:lnTo>
                  <a:lnTo>
                    <a:pt x="4275094" y="325425"/>
                  </a:lnTo>
                  <a:lnTo>
                    <a:pt x="4261625" y="279826"/>
                  </a:lnTo>
                  <a:lnTo>
                    <a:pt x="4243318" y="236532"/>
                  </a:lnTo>
                  <a:lnTo>
                    <a:pt x="4220490" y="195861"/>
                  </a:lnTo>
                  <a:lnTo>
                    <a:pt x="4193457" y="158128"/>
                  </a:lnTo>
                  <a:lnTo>
                    <a:pt x="4162536" y="123650"/>
                  </a:lnTo>
                  <a:lnTo>
                    <a:pt x="4128044" y="92742"/>
                  </a:lnTo>
                  <a:lnTo>
                    <a:pt x="4090298" y="65722"/>
                  </a:lnTo>
                  <a:lnTo>
                    <a:pt x="4049615" y="42906"/>
                  </a:lnTo>
                  <a:lnTo>
                    <a:pt x="4006311" y="24609"/>
                  </a:lnTo>
                  <a:lnTo>
                    <a:pt x="3960704" y="11148"/>
                  </a:lnTo>
                  <a:lnTo>
                    <a:pt x="3913111" y="2839"/>
                  </a:lnTo>
                  <a:lnTo>
                    <a:pt x="3863848" y="0"/>
                  </a:lnTo>
                  <a:close/>
                </a:path>
              </a:pathLst>
            </a:custGeom>
            <a:solidFill>
              <a:srgbClr val="ABD7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57801" y="1376425"/>
              <a:ext cx="4286250" cy="2533650"/>
            </a:xfrm>
            <a:custGeom>
              <a:avLst/>
              <a:gdLst/>
              <a:ahLst/>
              <a:cxnLst/>
              <a:rect l="l" t="t" r="r" b="b"/>
              <a:pathLst>
                <a:path w="4286250" h="2533650">
                  <a:moveTo>
                    <a:pt x="0" y="422275"/>
                  </a:moveTo>
                  <a:lnTo>
                    <a:pt x="2839" y="373013"/>
                  </a:lnTo>
                  <a:lnTo>
                    <a:pt x="11148" y="325425"/>
                  </a:lnTo>
                  <a:lnTo>
                    <a:pt x="24609" y="279826"/>
                  </a:lnTo>
                  <a:lnTo>
                    <a:pt x="42906" y="236532"/>
                  </a:lnTo>
                  <a:lnTo>
                    <a:pt x="65722" y="195861"/>
                  </a:lnTo>
                  <a:lnTo>
                    <a:pt x="92742" y="158128"/>
                  </a:lnTo>
                  <a:lnTo>
                    <a:pt x="123650" y="123650"/>
                  </a:lnTo>
                  <a:lnTo>
                    <a:pt x="158128" y="92742"/>
                  </a:lnTo>
                  <a:lnTo>
                    <a:pt x="195861" y="65722"/>
                  </a:lnTo>
                  <a:lnTo>
                    <a:pt x="236532" y="42906"/>
                  </a:lnTo>
                  <a:lnTo>
                    <a:pt x="279826" y="24609"/>
                  </a:lnTo>
                  <a:lnTo>
                    <a:pt x="325425" y="11148"/>
                  </a:lnTo>
                  <a:lnTo>
                    <a:pt x="373013" y="2839"/>
                  </a:lnTo>
                  <a:lnTo>
                    <a:pt x="422275" y="0"/>
                  </a:lnTo>
                  <a:lnTo>
                    <a:pt x="3863848" y="0"/>
                  </a:lnTo>
                  <a:lnTo>
                    <a:pt x="3913111" y="2839"/>
                  </a:lnTo>
                  <a:lnTo>
                    <a:pt x="3960704" y="11148"/>
                  </a:lnTo>
                  <a:lnTo>
                    <a:pt x="4006311" y="24609"/>
                  </a:lnTo>
                  <a:lnTo>
                    <a:pt x="4049615" y="42906"/>
                  </a:lnTo>
                  <a:lnTo>
                    <a:pt x="4090298" y="65722"/>
                  </a:lnTo>
                  <a:lnTo>
                    <a:pt x="4128044" y="92742"/>
                  </a:lnTo>
                  <a:lnTo>
                    <a:pt x="4162536" y="123650"/>
                  </a:lnTo>
                  <a:lnTo>
                    <a:pt x="4193457" y="158128"/>
                  </a:lnTo>
                  <a:lnTo>
                    <a:pt x="4220490" y="195861"/>
                  </a:lnTo>
                  <a:lnTo>
                    <a:pt x="4243318" y="236532"/>
                  </a:lnTo>
                  <a:lnTo>
                    <a:pt x="4261625" y="279826"/>
                  </a:lnTo>
                  <a:lnTo>
                    <a:pt x="4275094" y="325425"/>
                  </a:lnTo>
                  <a:lnTo>
                    <a:pt x="4283408" y="373013"/>
                  </a:lnTo>
                  <a:lnTo>
                    <a:pt x="4286250" y="422275"/>
                  </a:lnTo>
                  <a:lnTo>
                    <a:pt x="4286250" y="2111248"/>
                  </a:lnTo>
                  <a:lnTo>
                    <a:pt x="4283408" y="2160510"/>
                  </a:lnTo>
                  <a:lnTo>
                    <a:pt x="4275094" y="2208101"/>
                  </a:lnTo>
                  <a:lnTo>
                    <a:pt x="4261625" y="2253704"/>
                  </a:lnTo>
                  <a:lnTo>
                    <a:pt x="4243318" y="2297002"/>
                  </a:lnTo>
                  <a:lnTo>
                    <a:pt x="4220490" y="2337679"/>
                  </a:lnTo>
                  <a:lnTo>
                    <a:pt x="4193457" y="2375419"/>
                  </a:lnTo>
                  <a:lnTo>
                    <a:pt x="4162536" y="2409904"/>
                  </a:lnTo>
                  <a:lnTo>
                    <a:pt x="4128044" y="2440818"/>
                  </a:lnTo>
                  <a:lnTo>
                    <a:pt x="4090298" y="2467845"/>
                  </a:lnTo>
                  <a:lnTo>
                    <a:pt x="4049615" y="2490667"/>
                  </a:lnTo>
                  <a:lnTo>
                    <a:pt x="4006311" y="2508969"/>
                  </a:lnTo>
                  <a:lnTo>
                    <a:pt x="3960704" y="2522434"/>
                  </a:lnTo>
                  <a:lnTo>
                    <a:pt x="3913111" y="2530745"/>
                  </a:lnTo>
                  <a:lnTo>
                    <a:pt x="3863848" y="2533586"/>
                  </a:lnTo>
                  <a:lnTo>
                    <a:pt x="422275" y="2533586"/>
                  </a:lnTo>
                  <a:lnTo>
                    <a:pt x="373013" y="2530745"/>
                  </a:lnTo>
                  <a:lnTo>
                    <a:pt x="325425" y="2522434"/>
                  </a:lnTo>
                  <a:lnTo>
                    <a:pt x="279826" y="2508969"/>
                  </a:lnTo>
                  <a:lnTo>
                    <a:pt x="236532" y="2490667"/>
                  </a:lnTo>
                  <a:lnTo>
                    <a:pt x="195861" y="2467845"/>
                  </a:lnTo>
                  <a:lnTo>
                    <a:pt x="158128" y="2440818"/>
                  </a:lnTo>
                  <a:lnTo>
                    <a:pt x="123650" y="2409904"/>
                  </a:lnTo>
                  <a:lnTo>
                    <a:pt x="92742" y="2375419"/>
                  </a:lnTo>
                  <a:lnTo>
                    <a:pt x="65722" y="2337679"/>
                  </a:lnTo>
                  <a:lnTo>
                    <a:pt x="42906" y="2297002"/>
                  </a:lnTo>
                  <a:lnTo>
                    <a:pt x="24609" y="2253704"/>
                  </a:lnTo>
                  <a:lnTo>
                    <a:pt x="11148" y="2208101"/>
                  </a:lnTo>
                  <a:lnTo>
                    <a:pt x="2839" y="2160510"/>
                  </a:lnTo>
                  <a:lnTo>
                    <a:pt x="0" y="2111248"/>
                  </a:lnTo>
                  <a:lnTo>
                    <a:pt x="0" y="42227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57800" y="1028700"/>
            <a:ext cx="3362325" cy="676275"/>
          </a:xfrm>
          <a:prstGeom prst="rect">
            <a:avLst/>
          </a:prstGeom>
          <a:solidFill>
            <a:srgbClr val="007B86"/>
          </a:solidFill>
        </p:spPr>
        <p:txBody>
          <a:bodyPr vert="horz" wrap="square" lIns="0" tIns="166370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1310"/>
              </a:spcBef>
            </a:pPr>
            <a:r>
              <a:rPr sz="2150" b="1" dirty="0">
                <a:solidFill>
                  <a:srgbClr val="FFFFFF"/>
                </a:solidFill>
                <a:latin typeface="Georgia"/>
                <a:cs typeface="Georgia"/>
              </a:rPr>
              <a:t>FedProx</a:t>
            </a:r>
            <a:r>
              <a:rPr sz="2150" b="1" spc="1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150" b="1" spc="-10" dirty="0">
                <a:solidFill>
                  <a:srgbClr val="FFFFFF"/>
                </a:solidFill>
                <a:latin typeface="Georgia"/>
                <a:cs typeface="Georgia"/>
              </a:rPr>
              <a:t>Strategy</a:t>
            </a:r>
            <a:endParaRPr sz="215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3187" y="1370075"/>
            <a:ext cx="4299585" cy="2546350"/>
            <a:chOff x="103187" y="1370075"/>
            <a:chExt cx="4299585" cy="2546350"/>
          </a:xfrm>
        </p:grpSpPr>
        <p:sp>
          <p:nvSpPr>
            <p:cNvPr id="11" name="object 11"/>
            <p:cNvSpPr/>
            <p:nvPr/>
          </p:nvSpPr>
          <p:spPr>
            <a:xfrm>
              <a:off x="109537" y="1376425"/>
              <a:ext cx="4286885" cy="2533650"/>
            </a:xfrm>
            <a:custGeom>
              <a:avLst/>
              <a:gdLst/>
              <a:ahLst/>
              <a:cxnLst/>
              <a:rect l="l" t="t" r="r" b="b"/>
              <a:pathLst>
                <a:path w="4286885" h="2533650">
                  <a:moveTo>
                    <a:pt x="3863911" y="0"/>
                  </a:moveTo>
                  <a:lnTo>
                    <a:pt x="422287" y="0"/>
                  </a:lnTo>
                  <a:lnTo>
                    <a:pt x="373040" y="2839"/>
                  </a:lnTo>
                  <a:lnTo>
                    <a:pt x="325461" y="11148"/>
                  </a:lnTo>
                  <a:lnTo>
                    <a:pt x="279867" y="24609"/>
                  </a:lnTo>
                  <a:lnTo>
                    <a:pt x="236576" y="42906"/>
                  </a:lnTo>
                  <a:lnTo>
                    <a:pt x="195904" y="65722"/>
                  </a:lnTo>
                  <a:lnTo>
                    <a:pt x="158168" y="92742"/>
                  </a:lnTo>
                  <a:lnTo>
                    <a:pt x="123685" y="123650"/>
                  </a:lnTo>
                  <a:lnTo>
                    <a:pt x="92771" y="158128"/>
                  </a:lnTo>
                  <a:lnTo>
                    <a:pt x="65745" y="195861"/>
                  </a:lnTo>
                  <a:lnTo>
                    <a:pt x="42921" y="236532"/>
                  </a:lnTo>
                  <a:lnTo>
                    <a:pt x="24618" y="279826"/>
                  </a:lnTo>
                  <a:lnTo>
                    <a:pt x="11152" y="325425"/>
                  </a:lnTo>
                  <a:lnTo>
                    <a:pt x="2841" y="373013"/>
                  </a:lnTo>
                  <a:lnTo>
                    <a:pt x="0" y="422275"/>
                  </a:lnTo>
                  <a:lnTo>
                    <a:pt x="0" y="2111248"/>
                  </a:lnTo>
                  <a:lnTo>
                    <a:pt x="2841" y="2160510"/>
                  </a:lnTo>
                  <a:lnTo>
                    <a:pt x="11152" y="2208101"/>
                  </a:lnTo>
                  <a:lnTo>
                    <a:pt x="24618" y="2253704"/>
                  </a:lnTo>
                  <a:lnTo>
                    <a:pt x="42921" y="2297002"/>
                  </a:lnTo>
                  <a:lnTo>
                    <a:pt x="65745" y="2337679"/>
                  </a:lnTo>
                  <a:lnTo>
                    <a:pt x="92771" y="2375419"/>
                  </a:lnTo>
                  <a:lnTo>
                    <a:pt x="123685" y="2409904"/>
                  </a:lnTo>
                  <a:lnTo>
                    <a:pt x="158168" y="2440818"/>
                  </a:lnTo>
                  <a:lnTo>
                    <a:pt x="195904" y="2467845"/>
                  </a:lnTo>
                  <a:lnTo>
                    <a:pt x="236576" y="2490667"/>
                  </a:lnTo>
                  <a:lnTo>
                    <a:pt x="279867" y="2508969"/>
                  </a:lnTo>
                  <a:lnTo>
                    <a:pt x="325461" y="2522434"/>
                  </a:lnTo>
                  <a:lnTo>
                    <a:pt x="373040" y="2530745"/>
                  </a:lnTo>
                  <a:lnTo>
                    <a:pt x="422287" y="2533586"/>
                  </a:lnTo>
                  <a:lnTo>
                    <a:pt x="3863911" y="2533586"/>
                  </a:lnTo>
                  <a:lnTo>
                    <a:pt x="3913174" y="2530745"/>
                  </a:lnTo>
                  <a:lnTo>
                    <a:pt x="3960768" y="2522434"/>
                  </a:lnTo>
                  <a:lnTo>
                    <a:pt x="4006375" y="2508969"/>
                  </a:lnTo>
                  <a:lnTo>
                    <a:pt x="4049678" y="2490667"/>
                  </a:lnTo>
                  <a:lnTo>
                    <a:pt x="4090361" y="2467845"/>
                  </a:lnTo>
                  <a:lnTo>
                    <a:pt x="4128107" y="2440818"/>
                  </a:lnTo>
                  <a:lnTo>
                    <a:pt x="4162599" y="2409904"/>
                  </a:lnTo>
                  <a:lnTo>
                    <a:pt x="4193520" y="2375419"/>
                  </a:lnTo>
                  <a:lnTo>
                    <a:pt x="4220553" y="2337679"/>
                  </a:lnTo>
                  <a:lnTo>
                    <a:pt x="4243382" y="2297002"/>
                  </a:lnTo>
                  <a:lnTo>
                    <a:pt x="4261689" y="2253704"/>
                  </a:lnTo>
                  <a:lnTo>
                    <a:pt x="4275158" y="2208101"/>
                  </a:lnTo>
                  <a:lnTo>
                    <a:pt x="4283471" y="2160510"/>
                  </a:lnTo>
                  <a:lnTo>
                    <a:pt x="4286313" y="2111248"/>
                  </a:lnTo>
                  <a:lnTo>
                    <a:pt x="4286313" y="422275"/>
                  </a:lnTo>
                  <a:lnTo>
                    <a:pt x="4283471" y="373013"/>
                  </a:lnTo>
                  <a:lnTo>
                    <a:pt x="4275158" y="325425"/>
                  </a:lnTo>
                  <a:lnTo>
                    <a:pt x="4261689" y="279826"/>
                  </a:lnTo>
                  <a:lnTo>
                    <a:pt x="4243382" y="236532"/>
                  </a:lnTo>
                  <a:lnTo>
                    <a:pt x="4220553" y="195861"/>
                  </a:lnTo>
                  <a:lnTo>
                    <a:pt x="4193520" y="158128"/>
                  </a:lnTo>
                  <a:lnTo>
                    <a:pt x="4162599" y="123650"/>
                  </a:lnTo>
                  <a:lnTo>
                    <a:pt x="4128107" y="92742"/>
                  </a:lnTo>
                  <a:lnTo>
                    <a:pt x="4090361" y="65722"/>
                  </a:lnTo>
                  <a:lnTo>
                    <a:pt x="4049678" y="42906"/>
                  </a:lnTo>
                  <a:lnTo>
                    <a:pt x="4006375" y="24609"/>
                  </a:lnTo>
                  <a:lnTo>
                    <a:pt x="3960768" y="11148"/>
                  </a:lnTo>
                  <a:lnTo>
                    <a:pt x="3913174" y="2839"/>
                  </a:lnTo>
                  <a:lnTo>
                    <a:pt x="3863911" y="0"/>
                  </a:lnTo>
                  <a:close/>
                </a:path>
              </a:pathLst>
            </a:custGeom>
            <a:solidFill>
              <a:srgbClr val="ABD7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9537" y="1376425"/>
              <a:ext cx="4286885" cy="2533650"/>
            </a:xfrm>
            <a:custGeom>
              <a:avLst/>
              <a:gdLst/>
              <a:ahLst/>
              <a:cxnLst/>
              <a:rect l="l" t="t" r="r" b="b"/>
              <a:pathLst>
                <a:path w="4286885" h="2533650">
                  <a:moveTo>
                    <a:pt x="0" y="422275"/>
                  </a:moveTo>
                  <a:lnTo>
                    <a:pt x="2841" y="373013"/>
                  </a:lnTo>
                  <a:lnTo>
                    <a:pt x="11152" y="325425"/>
                  </a:lnTo>
                  <a:lnTo>
                    <a:pt x="24618" y="279826"/>
                  </a:lnTo>
                  <a:lnTo>
                    <a:pt x="42921" y="236532"/>
                  </a:lnTo>
                  <a:lnTo>
                    <a:pt x="65745" y="195861"/>
                  </a:lnTo>
                  <a:lnTo>
                    <a:pt x="92771" y="158128"/>
                  </a:lnTo>
                  <a:lnTo>
                    <a:pt x="123685" y="123650"/>
                  </a:lnTo>
                  <a:lnTo>
                    <a:pt x="158168" y="92742"/>
                  </a:lnTo>
                  <a:lnTo>
                    <a:pt x="195904" y="65722"/>
                  </a:lnTo>
                  <a:lnTo>
                    <a:pt x="236576" y="42906"/>
                  </a:lnTo>
                  <a:lnTo>
                    <a:pt x="279867" y="24609"/>
                  </a:lnTo>
                  <a:lnTo>
                    <a:pt x="325461" y="11148"/>
                  </a:lnTo>
                  <a:lnTo>
                    <a:pt x="373040" y="2839"/>
                  </a:lnTo>
                  <a:lnTo>
                    <a:pt x="422287" y="0"/>
                  </a:lnTo>
                  <a:lnTo>
                    <a:pt x="3863911" y="0"/>
                  </a:lnTo>
                  <a:lnTo>
                    <a:pt x="3913174" y="2839"/>
                  </a:lnTo>
                  <a:lnTo>
                    <a:pt x="3960768" y="11148"/>
                  </a:lnTo>
                  <a:lnTo>
                    <a:pt x="4006375" y="24609"/>
                  </a:lnTo>
                  <a:lnTo>
                    <a:pt x="4049678" y="42906"/>
                  </a:lnTo>
                  <a:lnTo>
                    <a:pt x="4090361" y="65722"/>
                  </a:lnTo>
                  <a:lnTo>
                    <a:pt x="4128107" y="92742"/>
                  </a:lnTo>
                  <a:lnTo>
                    <a:pt x="4162599" y="123650"/>
                  </a:lnTo>
                  <a:lnTo>
                    <a:pt x="4193520" y="158128"/>
                  </a:lnTo>
                  <a:lnTo>
                    <a:pt x="4220553" y="195861"/>
                  </a:lnTo>
                  <a:lnTo>
                    <a:pt x="4243382" y="236532"/>
                  </a:lnTo>
                  <a:lnTo>
                    <a:pt x="4261689" y="279826"/>
                  </a:lnTo>
                  <a:lnTo>
                    <a:pt x="4275158" y="325425"/>
                  </a:lnTo>
                  <a:lnTo>
                    <a:pt x="4283471" y="373013"/>
                  </a:lnTo>
                  <a:lnTo>
                    <a:pt x="4286313" y="422275"/>
                  </a:lnTo>
                  <a:lnTo>
                    <a:pt x="4286313" y="2111248"/>
                  </a:lnTo>
                  <a:lnTo>
                    <a:pt x="4283471" y="2160510"/>
                  </a:lnTo>
                  <a:lnTo>
                    <a:pt x="4275158" y="2208101"/>
                  </a:lnTo>
                  <a:lnTo>
                    <a:pt x="4261689" y="2253704"/>
                  </a:lnTo>
                  <a:lnTo>
                    <a:pt x="4243382" y="2297002"/>
                  </a:lnTo>
                  <a:lnTo>
                    <a:pt x="4220553" y="2337679"/>
                  </a:lnTo>
                  <a:lnTo>
                    <a:pt x="4193520" y="2375419"/>
                  </a:lnTo>
                  <a:lnTo>
                    <a:pt x="4162599" y="2409904"/>
                  </a:lnTo>
                  <a:lnTo>
                    <a:pt x="4128107" y="2440818"/>
                  </a:lnTo>
                  <a:lnTo>
                    <a:pt x="4090361" y="2467845"/>
                  </a:lnTo>
                  <a:lnTo>
                    <a:pt x="4049678" y="2490667"/>
                  </a:lnTo>
                  <a:lnTo>
                    <a:pt x="4006375" y="2508969"/>
                  </a:lnTo>
                  <a:lnTo>
                    <a:pt x="3960768" y="2522434"/>
                  </a:lnTo>
                  <a:lnTo>
                    <a:pt x="3913174" y="2530745"/>
                  </a:lnTo>
                  <a:lnTo>
                    <a:pt x="3863911" y="2533586"/>
                  </a:lnTo>
                  <a:lnTo>
                    <a:pt x="422287" y="2533586"/>
                  </a:lnTo>
                  <a:lnTo>
                    <a:pt x="373040" y="2530745"/>
                  </a:lnTo>
                  <a:lnTo>
                    <a:pt x="325461" y="2522434"/>
                  </a:lnTo>
                  <a:lnTo>
                    <a:pt x="279867" y="2508969"/>
                  </a:lnTo>
                  <a:lnTo>
                    <a:pt x="236576" y="2490667"/>
                  </a:lnTo>
                  <a:lnTo>
                    <a:pt x="195904" y="2467845"/>
                  </a:lnTo>
                  <a:lnTo>
                    <a:pt x="158168" y="2440818"/>
                  </a:lnTo>
                  <a:lnTo>
                    <a:pt x="123685" y="2409904"/>
                  </a:lnTo>
                  <a:lnTo>
                    <a:pt x="92771" y="2375419"/>
                  </a:lnTo>
                  <a:lnTo>
                    <a:pt x="65745" y="2337679"/>
                  </a:lnTo>
                  <a:lnTo>
                    <a:pt x="42921" y="2297002"/>
                  </a:lnTo>
                  <a:lnTo>
                    <a:pt x="24618" y="2253704"/>
                  </a:lnTo>
                  <a:lnTo>
                    <a:pt x="11152" y="2208101"/>
                  </a:lnTo>
                  <a:lnTo>
                    <a:pt x="2841" y="2160510"/>
                  </a:lnTo>
                  <a:lnTo>
                    <a:pt x="0" y="2111248"/>
                  </a:lnTo>
                  <a:lnTo>
                    <a:pt x="0" y="422275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9600" y="1028700"/>
            <a:ext cx="3362325" cy="676275"/>
          </a:xfrm>
          <a:prstGeom prst="rect">
            <a:avLst/>
          </a:prstGeom>
          <a:solidFill>
            <a:srgbClr val="007B86"/>
          </a:solidFill>
        </p:spPr>
        <p:txBody>
          <a:bodyPr vert="horz" wrap="square" lIns="0" tIns="166370" rIns="0" bIns="0" rtlCol="0">
            <a:spAutoFit/>
          </a:bodyPr>
          <a:lstStyle/>
          <a:p>
            <a:pPr marL="517525">
              <a:lnSpc>
                <a:spcPct val="100000"/>
              </a:lnSpc>
              <a:spcBef>
                <a:spcPts val="1310"/>
              </a:spcBef>
            </a:pPr>
            <a:r>
              <a:rPr sz="2150" b="1" dirty="0">
                <a:solidFill>
                  <a:srgbClr val="FFFFFF"/>
                </a:solidFill>
                <a:latin typeface="Georgia"/>
                <a:cs typeface="Georgia"/>
              </a:rPr>
              <a:t>FedAvg</a:t>
            </a:r>
            <a:r>
              <a:rPr sz="2150" b="1" spc="1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150" b="1" spc="-10" dirty="0">
                <a:solidFill>
                  <a:srgbClr val="FFFFFF"/>
                </a:solidFill>
                <a:latin typeface="Georgia"/>
                <a:cs typeface="Georgia"/>
              </a:rPr>
              <a:t>Strategy</a:t>
            </a:r>
            <a:endParaRPr sz="2150">
              <a:latin typeface="Georgia"/>
              <a:cs typeface="Georgia"/>
            </a:endParaRPr>
          </a:p>
        </p:txBody>
      </p:sp>
      <p:pic>
        <p:nvPicPr>
          <p:cNvPr id="14" name="object 14" descr="A computer screen with text and number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1100" y="1885950"/>
            <a:ext cx="3695700" cy="1800225"/>
          </a:xfrm>
          <a:prstGeom prst="rect">
            <a:avLst/>
          </a:prstGeom>
        </p:spPr>
      </p:pic>
      <p:pic>
        <p:nvPicPr>
          <p:cNvPr id="15" name="object 15" descr="A computer screen shot of a program code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425" y="1809750"/>
            <a:ext cx="3867150" cy="187642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69557" y="4102100"/>
            <a:ext cx="8072120" cy="673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b="1" spc="-10" dirty="0">
                <a:solidFill>
                  <a:srgbClr val="007B86"/>
                </a:solidFill>
                <a:latin typeface="Calibri"/>
                <a:cs typeface="Calibri"/>
              </a:rPr>
              <a:t>FedAvg:</a:t>
            </a:r>
            <a:r>
              <a:rPr sz="1400" b="1" spc="-3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Simply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 averages</a:t>
            </a:r>
            <a:r>
              <a:rPr sz="1400" spc="-2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client</a:t>
            </a:r>
            <a:r>
              <a:rPr sz="1400" spc="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model</a:t>
            </a:r>
            <a:r>
              <a:rPr sz="1400" spc="-5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weights→</a:t>
            </a:r>
            <a:r>
              <a:rPr sz="1400" spc="-5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no</a:t>
            </a:r>
            <a:r>
              <a:rPr sz="1400" spc="-3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extra</a:t>
            </a:r>
            <a:r>
              <a:rPr sz="1400" spc="-4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constraint,</a:t>
            </a:r>
            <a:r>
              <a:rPr sz="1400" spc="-1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basic</a:t>
            </a:r>
            <a:r>
              <a:rPr sz="1400" spc="-4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aggregation.</a:t>
            </a:r>
            <a:endParaRPr sz="1400">
              <a:latin typeface="Calibri"/>
              <a:cs typeface="Calibri"/>
            </a:endParaRPr>
          </a:p>
          <a:p>
            <a:pPr marL="298450" indent="-285750">
              <a:lnSpc>
                <a:spcPts val="1664"/>
              </a:lnSpc>
              <a:spcBef>
                <a:spcPts val="5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b="1" spc="-10" dirty="0">
                <a:solidFill>
                  <a:srgbClr val="007B86"/>
                </a:solidFill>
                <a:latin typeface="Calibri"/>
                <a:cs typeface="Calibri"/>
              </a:rPr>
              <a:t>FedProx:</a:t>
            </a:r>
            <a:r>
              <a:rPr sz="1400" b="1" spc="-4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Adds</a:t>
            </a:r>
            <a:r>
              <a:rPr sz="1400" spc="-7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proximal_mu</a:t>
            </a:r>
            <a:r>
              <a:rPr sz="1400" spc="-2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→</a:t>
            </a:r>
            <a:r>
              <a:rPr sz="1400" spc="-5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keeps local</a:t>
            </a:r>
            <a:r>
              <a:rPr sz="1400" spc="-6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models closer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global model</a:t>
            </a:r>
            <a:r>
              <a:rPr sz="1400" spc="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during</a:t>
            </a:r>
            <a:r>
              <a:rPr sz="1400" spc="-3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training.</a:t>
            </a:r>
            <a:endParaRPr sz="1400">
              <a:latin typeface="Calibri"/>
              <a:cs typeface="Calibri"/>
            </a:endParaRPr>
          </a:p>
          <a:p>
            <a:pPr marL="298450" indent="-285750">
              <a:lnSpc>
                <a:spcPts val="1664"/>
              </a:lnSpc>
              <a:buFont typeface="Arial MT"/>
              <a:buChar char="•"/>
              <a:tabLst>
                <a:tab pos="298450" algn="l"/>
              </a:tabLst>
            </a:pPr>
            <a:r>
              <a:rPr sz="1400" b="1" spc="-10" dirty="0">
                <a:solidFill>
                  <a:srgbClr val="007B86"/>
                </a:solidFill>
                <a:latin typeface="Calibri"/>
                <a:cs typeface="Calibri"/>
              </a:rPr>
              <a:t>Difference:</a:t>
            </a:r>
            <a:r>
              <a:rPr sz="1400" b="1" spc="-1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FedAvg</a:t>
            </a:r>
            <a:r>
              <a:rPr sz="1400" spc="-1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is</a:t>
            </a:r>
            <a:r>
              <a:rPr sz="1400" spc="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simple</a:t>
            </a:r>
            <a:r>
              <a:rPr sz="1400" spc="-6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but</a:t>
            </a:r>
            <a:r>
              <a:rPr sz="1400" spc="-6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less</a:t>
            </a:r>
            <a:r>
              <a:rPr sz="1400" spc="-2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stable;FedProx</a:t>
            </a:r>
            <a:r>
              <a:rPr sz="1400" spc="-1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is more</a:t>
            </a:r>
            <a:r>
              <a:rPr sz="1400" spc="-7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stable</a:t>
            </a:r>
            <a:r>
              <a:rPr sz="1400" spc="-7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for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 heterogeneous(different)</a:t>
            </a:r>
            <a:r>
              <a:rPr sz="1400" spc="-30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7B86"/>
                </a:solidFill>
                <a:latin typeface="Calibri"/>
                <a:cs typeface="Calibri"/>
              </a:rPr>
              <a:t>client</a:t>
            </a:r>
            <a:r>
              <a:rPr sz="1400" spc="5" dirty="0">
                <a:solidFill>
                  <a:srgbClr val="007B8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7B86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38175"/>
          </a:xfrm>
          <a:custGeom>
            <a:avLst/>
            <a:gdLst/>
            <a:ahLst/>
            <a:cxnLst/>
            <a:rect l="l" t="t" r="r" b="b"/>
            <a:pathLst>
              <a:path w="9144000" h="638175">
                <a:moveTo>
                  <a:pt x="9144000" y="0"/>
                </a:moveTo>
                <a:lnTo>
                  <a:pt x="0" y="0"/>
                </a:lnTo>
                <a:lnTo>
                  <a:pt x="0" y="638175"/>
                </a:lnTo>
                <a:lnTo>
                  <a:pt x="9144000" y="638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1E293A"/>
                </a:solidFill>
              </a:rPr>
              <a:t>Centralized</a:t>
            </a:r>
            <a:r>
              <a:rPr spc="160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Training</a:t>
            </a:r>
            <a:r>
              <a:rPr spc="155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—</a:t>
            </a:r>
            <a:r>
              <a:rPr spc="175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The</a:t>
            </a:r>
            <a:r>
              <a:rPr spc="140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Baseline</a:t>
            </a:r>
            <a:r>
              <a:rPr spc="140" dirty="0">
                <a:solidFill>
                  <a:srgbClr val="1E293A"/>
                </a:solidFill>
              </a:rPr>
              <a:t> </a:t>
            </a:r>
            <a:r>
              <a:rPr spc="-10" dirty="0">
                <a:solidFill>
                  <a:srgbClr val="1E293A"/>
                </a:solidFill>
              </a:rPr>
              <a:t>Approach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6675" y="695261"/>
            <a:ext cx="5224780" cy="4338955"/>
            <a:chOff x="66675" y="695261"/>
            <a:chExt cx="5224780" cy="43389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5" y="695261"/>
              <a:ext cx="5224526" cy="43387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9550" y="781049"/>
              <a:ext cx="5000625" cy="4114800"/>
            </a:xfrm>
            <a:custGeom>
              <a:avLst/>
              <a:gdLst/>
              <a:ahLst/>
              <a:cxnLst/>
              <a:rect l="l" t="t" r="r" b="b"/>
              <a:pathLst>
                <a:path w="5000625" h="4114800">
                  <a:moveTo>
                    <a:pt x="5000625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5000625" y="4114800"/>
                  </a:lnTo>
                  <a:lnTo>
                    <a:pt x="5000625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1962" y="1194435"/>
            <a:ext cx="4411980" cy="19297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05"/>
              </a:spcBef>
            </a:pPr>
            <a:r>
              <a:rPr sz="1500" b="1" dirty="0">
                <a:solidFill>
                  <a:srgbClr val="BCD6ED"/>
                </a:solidFill>
                <a:latin typeface="Georgia"/>
                <a:cs typeface="Georgia"/>
              </a:rPr>
              <a:t>What</a:t>
            </a:r>
            <a:r>
              <a:rPr sz="1500" b="1" spc="-40" dirty="0">
                <a:solidFill>
                  <a:srgbClr val="BCD6ED"/>
                </a:solidFill>
                <a:latin typeface="Georgia"/>
                <a:cs typeface="Georgia"/>
              </a:rPr>
              <a:t> </a:t>
            </a:r>
            <a:r>
              <a:rPr sz="1500" b="1" dirty="0">
                <a:solidFill>
                  <a:srgbClr val="BCD6ED"/>
                </a:solidFill>
                <a:latin typeface="Georgia"/>
                <a:cs typeface="Georgia"/>
              </a:rPr>
              <a:t>is</a:t>
            </a:r>
            <a:r>
              <a:rPr sz="1500" b="1" spc="-60" dirty="0">
                <a:solidFill>
                  <a:srgbClr val="BCD6ED"/>
                </a:solidFill>
                <a:latin typeface="Georgia"/>
                <a:cs typeface="Georgia"/>
              </a:rPr>
              <a:t> </a:t>
            </a:r>
            <a:r>
              <a:rPr sz="1500" b="1" dirty="0">
                <a:solidFill>
                  <a:srgbClr val="BCD6ED"/>
                </a:solidFill>
                <a:latin typeface="Georgia"/>
                <a:cs typeface="Georgia"/>
              </a:rPr>
              <a:t>Centralized</a:t>
            </a:r>
            <a:r>
              <a:rPr sz="1500" b="1" spc="-65" dirty="0">
                <a:solidFill>
                  <a:srgbClr val="BCD6ED"/>
                </a:solidFill>
                <a:latin typeface="Georgia"/>
                <a:cs typeface="Georgia"/>
              </a:rPr>
              <a:t> </a:t>
            </a:r>
            <a:r>
              <a:rPr sz="1500" b="1" spc="-10" dirty="0">
                <a:solidFill>
                  <a:srgbClr val="BCD6ED"/>
                </a:solidFill>
                <a:latin typeface="Georgia"/>
                <a:cs typeface="Georgia"/>
              </a:rPr>
              <a:t>Training?</a:t>
            </a:r>
            <a:endParaRPr sz="15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500">
              <a:latin typeface="Georgia"/>
              <a:cs typeface="Georgia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2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12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1250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central</a:t>
            </a:r>
            <a:r>
              <a:rPr sz="12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location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Calibri"/>
              <a:buChar char="•"/>
            </a:pPr>
            <a:endParaRPr sz="12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neural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2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trained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250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complete</a:t>
            </a:r>
            <a:r>
              <a:rPr sz="125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FFFF"/>
              </a:buClr>
              <a:buFont typeface="Calibri"/>
              <a:buChar char="•"/>
            </a:pPr>
            <a:endParaRPr sz="12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125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Keras</a:t>
            </a:r>
            <a:r>
              <a:rPr sz="12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model.fit()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25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distribution,</a:t>
            </a:r>
            <a:r>
              <a:rPr sz="125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2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aggregation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Calibri"/>
              <a:buChar char="•"/>
            </a:pPr>
            <a:endParaRPr sz="12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Serves</a:t>
            </a:r>
            <a:r>
              <a:rPr sz="12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25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upper-bound</a:t>
            </a:r>
            <a:r>
              <a:rPr sz="1250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sz="12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baseline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962" y="3304222"/>
            <a:ext cx="452818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Fastest</a:t>
            </a:r>
            <a:r>
              <a:rPr sz="12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training:</a:t>
            </a:r>
            <a:r>
              <a:rPr sz="125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250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overhead</a:t>
            </a:r>
            <a:r>
              <a:rPr sz="1250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250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rounds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962" y="3695636"/>
            <a:ext cx="3932554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2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privacy</a:t>
            </a:r>
            <a:r>
              <a:rPr sz="12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guarantees</a:t>
            </a:r>
            <a:r>
              <a:rPr sz="12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2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visible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962" y="4096384"/>
            <a:ext cx="472630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2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evaluate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12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federated</a:t>
            </a:r>
            <a:r>
              <a:rPr sz="125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privacy</a:t>
            </a:r>
            <a:r>
              <a:rPr sz="12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5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sz="12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95900" y="695198"/>
            <a:ext cx="3605529" cy="2691130"/>
            <a:chOff x="5295900" y="695198"/>
            <a:chExt cx="3605529" cy="269113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5900" y="695198"/>
              <a:ext cx="3605276" cy="26908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38775" y="781050"/>
              <a:ext cx="3381375" cy="2466975"/>
            </a:xfrm>
            <a:custGeom>
              <a:avLst/>
              <a:gdLst/>
              <a:ahLst/>
              <a:cxnLst/>
              <a:rect l="l" t="t" r="r" b="b"/>
              <a:pathLst>
                <a:path w="3381375" h="2466975">
                  <a:moveTo>
                    <a:pt x="3381375" y="0"/>
                  </a:moveTo>
                  <a:lnTo>
                    <a:pt x="0" y="0"/>
                  </a:lnTo>
                  <a:lnTo>
                    <a:pt x="0" y="2466975"/>
                  </a:lnTo>
                  <a:lnTo>
                    <a:pt x="3381375" y="2466975"/>
                  </a:lnTo>
                  <a:lnTo>
                    <a:pt x="3381375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35319" y="924623"/>
            <a:ext cx="181863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E293A"/>
                </a:solidFill>
                <a:latin typeface="Georgia"/>
                <a:cs typeface="Georgia"/>
              </a:rPr>
              <a:t>Centralized</a:t>
            </a:r>
            <a:r>
              <a:rPr sz="1400" b="1" spc="-3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1E293A"/>
                </a:solidFill>
                <a:latin typeface="Georgia"/>
                <a:cs typeface="Georgia"/>
              </a:rPr>
              <a:t>Results</a:t>
            </a:r>
            <a:endParaRPr sz="1400">
              <a:latin typeface="Georgia"/>
              <a:cs typeface="Georgia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528945" y="1295272"/>
          <a:ext cx="32004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1600200"/>
              </a:tblGrid>
              <a:tr h="304800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b="1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Epoch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b="1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5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1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95.22%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5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98.34%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5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1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98.90%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5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1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99.30%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5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99.57%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6350">
                      <a:solidFill>
                        <a:srgbClr val="CAD4E0"/>
                      </a:solidFill>
                      <a:prstDash val="solid"/>
                    </a:lnL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</a:tr>
            </a:tbl>
          </a:graphicData>
        </a:graphic>
      </p:graphicFrame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5900" y="3343211"/>
            <a:ext cx="3605276" cy="169075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438775" y="3429000"/>
            <a:ext cx="3381375" cy="1466850"/>
          </a:xfrm>
          <a:prstGeom prst="rect">
            <a:avLst/>
          </a:prstGeom>
          <a:solidFill>
            <a:srgbClr val="EBF8F9"/>
          </a:solidFill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2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Final</a:t>
            </a:r>
            <a:r>
              <a:rPr sz="1250" spc="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Accuracy:</a:t>
            </a:r>
            <a:r>
              <a:rPr sz="1250" spc="1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0A895"/>
                </a:solidFill>
                <a:latin typeface="Calibri"/>
                <a:cs typeface="Calibri"/>
              </a:rPr>
              <a:t>99.57%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50">
              <a:latin typeface="Calibri"/>
              <a:cs typeface="Calibri"/>
            </a:endParaRPr>
          </a:p>
          <a:p>
            <a:pPr marL="236220">
              <a:lnSpc>
                <a:spcPct val="100000"/>
              </a:lnSpc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Training</a:t>
            </a:r>
            <a:r>
              <a:rPr sz="1250" spc="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Time:</a:t>
            </a:r>
            <a:r>
              <a:rPr sz="1250" spc="9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4A160"/>
                </a:solidFill>
                <a:latin typeface="Calibri"/>
                <a:cs typeface="Calibri"/>
              </a:rPr>
              <a:t>82.44</a:t>
            </a:r>
            <a:r>
              <a:rPr sz="1250" b="1" spc="100" dirty="0">
                <a:solidFill>
                  <a:srgbClr val="F4A16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4A160"/>
                </a:solidFill>
                <a:latin typeface="Calibri"/>
                <a:cs typeface="Calibri"/>
              </a:rPr>
              <a:t>sec</a:t>
            </a:r>
            <a:r>
              <a:rPr sz="1250" b="1" spc="55" dirty="0">
                <a:solidFill>
                  <a:srgbClr val="F4A160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4A160"/>
                </a:solidFill>
                <a:latin typeface="Calibri"/>
                <a:cs typeface="Calibri"/>
              </a:rPr>
              <a:t>(Fastest)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Calibri"/>
              <a:cs typeface="Calibri"/>
            </a:endParaRPr>
          </a:p>
          <a:p>
            <a:pPr marL="236220">
              <a:lnSpc>
                <a:spcPct val="100000"/>
              </a:lnSpc>
            </a:pP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Privacy</a:t>
            </a:r>
            <a:r>
              <a:rPr sz="1250" spc="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E293A"/>
                </a:solidFill>
                <a:latin typeface="Calibri"/>
                <a:cs typeface="Calibri"/>
              </a:rPr>
              <a:t>Safe:</a:t>
            </a:r>
            <a:r>
              <a:rPr sz="1250" spc="39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50" b="1" spc="35" dirty="0">
                <a:solidFill>
                  <a:srgbClr val="F87070"/>
                </a:solidFill>
                <a:latin typeface="Calibri"/>
                <a:cs typeface="Calibri"/>
              </a:rPr>
              <a:t>No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638175"/>
              <a:ext cx="9144000" cy="4505325"/>
            </a:xfrm>
            <a:custGeom>
              <a:avLst/>
              <a:gdLst/>
              <a:ahLst/>
              <a:cxnLst/>
              <a:rect l="l" t="t" r="r" b="b"/>
              <a:pathLst>
                <a:path w="9144000" h="4505325">
                  <a:moveTo>
                    <a:pt x="0" y="4505324"/>
                  </a:moveTo>
                  <a:lnTo>
                    <a:pt x="9144000" y="450532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505324"/>
                  </a:lnTo>
                  <a:close/>
                </a:path>
              </a:pathLst>
            </a:custGeom>
            <a:solidFill>
              <a:srgbClr val="D0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38175"/>
            </a:xfrm>
            <a:custGeom>
              <a:avLst/>
              <a:gdLst/>
              <a:ahLst/>
              <a:cxnLst/>
              <a:rect l="l" t="t" r="r" b="b"/>
              <a:pathLst>
                <a:path w="9144000" h="638175">
                  <a:moveTo>
                    <a:pt x="9144000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9144000" y="6381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Experimental</a:t>
            </a:r>
            <a:r>
              <a:rPr spc="175" dirty="0"/>
              <a:t> </a:t>
            </a:r>
            <a:r>
              <a:rPr dirty="0"/>
              <a:t>Setup</a:t>
            </a:r>
            <a:r>
              <a:rPr spc="165" dirty="0"/>
              <a:t> </a:t>
            </a:r>
            <a:r>
              <a:rPr dirty="0"/>
              <a:t>&amp;</a:t>
            </a:r>
            <a:r>
              <a:rPr spc="155" dirty="0"/>
              <a:t> </a:t>
            </a:r>
            <a:r>
              <a:rPr spc="-10" dirty="0"/>
              <a:t>Tools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6712" y="823975"/>
            <a:ext cx="4114800" cy="1238250"/>
          </a:xfrm>
          <a:prstGeom prst="rect">
            <a:avLst/>
          </a:prstGeom>
          <a:solidFill>
            <a:srgbClr val="FFFFFF">
              <a:alpha val="10195"/>
            </a:srgbClr>
          </a:solidFill>
          <a:ln w="9525">
            <a:solidFill>
              <a:srgbClr val="01809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endParaRPr sz="140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</a:pPr>
            <a:r>
              <a:rPr sz="1400" b="1" dirty="0">
                <a:solidFill>
                  <a:srgbClr val="00A895"/>
                </a:solidFill>
                <a:latin typeface="Georgia"/>
                <a:cs typeface="Georgia"/>
              </a:rPr>
              <a:t>Flower</a:t>
            </a:r>
            <a:r>
              <a:rPr sz="1400" b="1" spc="-45" dirty="0">
                <a:solidFill>
                  <a:srgbClr val="00A895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A895"/>
                </a:solidFill>
                <a:latin typeface="Georgia"/>
                <a:cs typeface="Georgia"/>
              </a:rPr>
              <a:t>(FLwr)</a:t>
            </a:r>
            <a:endParaRPr sz="1400">
              <a:latin typeface="Georgia"/>
              <a:cs typeface="Georgia"/>
            </a:endParaRPr>
          </a:p>
          <a:p>
            <a:pPr marL="227965">
              <a:lnSpc>
                <a:spcPts val="1435"/>
              </a:lnSpc>
              <a:spcBef>
                <a:spcPts val="780"/>
              </a:spcBef>
            </a:pP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Federated</a:t>
            </a:r>
            <a:r>
              <a:rPr sz="12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learning</a:t>
            </a:r>
            <a:r>
              <a:rPr sz="120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framework</a:t>
            </a:r>
            <a:r>
              <a:rPr sz="120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—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manages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server/client</a:t>
            </a:r>
            <a:endParaRPr sz="1200">
              <a:latin typeface="Calibri"/>
              <a:cs typeface="Calibri"/>
            </a:endParaRPr>
          </a:p>
          <a:p>
            <a:pPr marL="227965">
              <a:lnSpc>
                <a:spcPts val="1435"/>
              </a:lnSpc>
            </a:pP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communication,</a:t>
            </a:r>
            <a:r>
              <a:rPr sz="120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rounds,</a:t>
            </a:r>
            <a:r>
              <a:rPr sz="120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aggregation</a:t>
            </a:r>
            <a:r>
              <a:rPr sz="12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strategies.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712" y="2195576"/>
            <a:ext cx="4114800" cy="1238250"/>
          </a:xfrm>
          <a:prstGeom prst="rect">
            <a:avLst/>
          </a:prstGeom>
          <a:solidFill>
            <a:srgbClr val="FFFFFF">
              <a:alpha val="10195"/>
            </a:srgbClr>
          </a:solidFill>
          <a:ln w="9525">
            <a:solidFill>
              <a:srgbClr val="01809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5"/>
              </a:spcBef>
            </a:pPr>
            <a:endParaRPr sz="140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</a:pPr>
            <a:r>
              <a:rPr sz="1400" b="1" spc="-10" dirty="0">
                <a:solidFill>
                  <a:srgbClr val="00A895"/>
                </a:solidFill>
                <a:latin typeface="Georgia"/>
                <a:cs typeface="Georgia"/>
              </a:rPr>
              <a:t>TensorFlow</a:t>
            </a:r>
            <a:endParaRPr sz="1400">
              <a:latin typeface="Georgia"/>
              <a:cs typeface="Georgia"/>
            </a:endParaRPr>
          </a:p>
          <a:p>
            <a:pPr marL="227965">
              <a:lnSpc>
                <a:spcPts val="1435"/>
              </a:lnSpc>
              <a:spcBef>
                <a:spcPts val="780"/>
              </a:spcBef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2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building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training</a:t>
            </a:r>
            <a:r>
              <a:rPr sz="12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— used</a:t>
            </a:r>
            <a:r>
              <a:rPr sz="120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create</a:t>
            </a:r>
            <a:r>
              <a:rPr sz="120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  <a:p>
            <a:pPr marL="227965">
              <a:lnSpc>
                <a:spcPts val="1435"/>
              </a:lnSpc>
            </a:pP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MLP/CNN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model with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Adam</a:t>
            </a:r>
            <a:r>
              <a:rPr sz="1200" spc="-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optimizer</a:t>
            </a:r>
            <a:r>
              <a:rPr sz="120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on</a:t>
            </a:r>
            <a:r>
              <a:rPr sz="12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CPU.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5426" y="823975"/>
            <a:ext cx="4114800" cy="1238250"/>
          </a:xfrm>
          <a:prstGeom prst="rect">
            <a:avLst/>
          </a:prstGeom>
          <a:solidFill>
            <a:srgbClr val="FFFFFF">
              <a:alpha val="10195"/>
            </a:srgbClr>
          </a:solidFill>
          <a:ln w="9525">
            <a:solidFill>
              <a:srgbClr val="01809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endParaRPr sz="14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sz="1400" b="1" spc="-10" dirty="0">
                <a:solidFill>
                  <a:srgbClr val="00A895"/>
                </a:solidFill>
                <a:latin typeface="Georgia"/>
                <a:cs typeface="Georgia"/>
              </a:rPr>
              <a:t>Matplotlib</a:t>
            </a:r>
            <a:endParaRPr sz="1400">
              <a:latin typeface="Georgia"/>
              <a:cs typeface="Georgia"/>
            </a:endParaRPr>
          </a:p>
          <a:p>
            <a:pPr marL="228600">
              <a:lnSpc>
                <a:spcPts val="1435"/>
              </a:lnSpc>
              <a:spcBef>
                <a:spcPts val="780"/>
              </a:spcBef>
            </a:pP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Visualization</a:t>
            </a:r>
            <a:r>
              <a:rPr sz="120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—</a:t>
            </a:r>
            <a:r>
              <a:rPr sz="120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accuracy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 curves,</a:t>
            </a:r>
            <a:r>
              <a:rPr sz="120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loss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plots,</a:t>
            </a:r>
            <a:r>
              <a:rPr sz="1200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training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time</a:t>
            </a:r>
            <a:endParaRPr sz="1200">
              <a:latin typeface="Calibri"/>
              <a:cs typeface="Calibri"/>
            </a:endParaRPr>
          </a:p>
          <a:p>
            <a:pPr marL="228600">
              <a:lnSpc>
                <a:spcPts val="1435"/>
              </a:lnSpc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bar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charts,</a:t>
            </a:r>
            <a:r>
              <a:rPr sz="1200" spc="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20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comparison</a:t>
            </a:r>
            <a:r>
              <a:rPr sz="120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graphs.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5426" y="2195576"/>
            <a:ext cx="4114800" cy="1238250"/>
          </a:xfrm>
          <a:prstGeom prst="rect">
            <a:avLst/>
          </a:prstGeom>
          <a:solidFill>
            <a:srgbClr val="FFFFFF">
              <a:alpha val="10195"/>
            </a:srgbClr>
          </a:solidFill>
          <a:ln w="9525">
            <a:solidFill>
              <a:srgbClr val="01809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5"/>
              </a:spcBef>
            </a:pPr>
            <a:endParaRPr sz="14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sz="1400" b="1" spc="-10" dirty="0">
                <a:solidFill>
                  <a:srgbClr val="00A895"/>
                </a:solidFill>
                <a:latin typeface="Georgia"/>
                <a:cs typeface="Georgia"/>
              </a:rPr>
              <a:t>NumPy</a:t>
            </a:r>
            <a:endParaRPr sz="1400">
              <a:latin typeface="Georgia"/>
              <a:cs typeface="Georgia"/>
            </a:endParaRPr>
          </a:p>
          <a:p>
            <a:pPr marL="228600">
              <a:lnSpc>
                <a:spcPts val="1435"/>
              </a:lnSpc>
              <a:spcBef>
                <a:spcPts val="780"/>
              </a:spcBef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200" spc="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manipulation</a:t>
            </a:r>
            <a:r>
              <a:rPr sz="120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—</a:t>
            </a:r>
            <a:r>
              <a:rPr sz="12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array</a:t>
            </a:r>
            <a:r>
              <a:rPr sz="12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operations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for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dataset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splitting</a:t>
            </a:r>
            <a:endParaRPr sz="1200">
              <a:latin typeface="Calibri"/>
              <a:cs typeface="Calibri"/>
            </a:endParaRPr>
          </a:p>
          <a:p>
            <a:pPr marL="228600">
              <a:lnSpc>
                <a:spcPts val="1435"/>
              </a:lnSpc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across</a:t>
            </a:r>
            <a:r>
              <a:rPr sz="120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clients.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61950" y="3562350"/>
          <a:ext cx="8553450" cy="1395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323850"/>
                <a:gridCol w="4114800"/>
              </a:tblGrid>
              <a:tr h="1080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2796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00A895"/>
                          </a:solidFill>
                          <a:latin typeface="Georgia"/>
                          <a:cs typeface="Georgia"/>
                        </a:rPr>
                        <a:t>Scikit-</a:t>
                      </a:r>
                      <a:r>
                        <a:rPr sz="1400" b="1" spc="-20" dirty="0">
                          <a:solidFill>
                            <a:srgbClr val="00A895"/>
                          </a:solidFill>
                          <a:latin typeface="Georgia"/>
                          <a:cs typeface="Georgia"/>
                        </a:rPr>
                        <a:t>learn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227965">
                        <a:lnSpc>
                          <a:spcPts val="1435"/>
                        </a:lnSpc>
                        <a:spcBef>
                          <a:spcPts val="78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Data </a:t>
                      </a: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preprocessing</a:t>
                      </a:r>
                      <a:r>
                        <a:rPr sz="1200" spc="-5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utilities</a:t>
                      </a:r>
                      <a:r>
                        <a:rPr sz="1200" spc="-3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4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2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27965">
                        <a:lnSpc>
                          <a:spcPts val="1435"/>
                        </a:lnSpc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computations.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18090"/>
                      </a:solidFill>
                      <a:prstDash val="solid"/>
                    </a:lnL>
                    <a:lnR w="9525">
                      <a:solidFill>
                        <a:srgbClr val="018090"/>
                      </a:solidFill>
                      <a:prstDash val="solid"/>
                    </a:lnR>
                    <a:lnT w="9525">
                      <a:solidFill>
                        <a:srgbClr val="018090"/>
                      </a:solidFill>
                      <a:prstDash val="solid"/>
                    </a:lnT>
                    <a:solidFill>
                      <a:srgbClr val="FFFFFF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18090"/>
                      </a:solidFill>
                      <a:prstDash val="solid"/>
                    </a:lnL>
                    <a:lnR w="9525">
                      <a:solidFill>
                        <a:srgbClr val="018090"/>
                      </a:solidFill>
                      <a:prstDash val="solid"/>
                    </a:lnR>
                    <a:solidFill>
                      <a:srgbClr val="D0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2860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0A895"/>
                          </a:solidFill>
                          <a:latin typeface="Georgia"/>
                          <a:cs typeface="Georgia"/>
                        </a:rPr>
                        <a:t>Python</a:t>
                      </a:r>
                      <a:r>
                        <a:rPr sz="1400" b="1" spc="-40" dirty="0">
                          <a:solidFill>
                            <a:srgbClr val="00A895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A895"/>
                          </a:solidFill>
                          <a:latin typeface="Georgia"/>
                          <a:cs typeface="Georgia"/>
                        </a:rPr>
                        <a:t>3.x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228600">
                        <a:lnSpc>
                          <a:spcPts val="1435"/>
                        </a:lnSpc>
                        <a:spcBef>
                          <a:spcPts val="78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200" spc="-7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200" spc="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200" spc="-4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200" spc="-3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1200" spc="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scripts:</a:t>
                      </a:r>
                      <a:r>
                        <a:rPr sz="1200" spc="-3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server.py,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28600">
                        <a:lnSpc>
                          <a:spcPts val="1435"/>
                        </a:lnSpc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client.py,</a:t>
                      </a:r>
                      <a:r>
                        <a:rPr sz="1200" spc="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fedprox.py,</a:t>
                      </a:r>
                      <a:r>
                        <a:rPr sz="1200" spc="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centralized.py.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18090"/>
                      </a:solidFill>
                      <a:prstDash val="solid"/>
                    </a:lnL>
                    <a:lnR w="9525">
                      <a:solidFill>
                        <a:srgbClr val="018090"/>
                      </a:solidFill>
                      <a:prstDash val="solid"/>
                    </a:lnR>
                    <a:lnT w="9525">
                      <a:solidFill>
                        <a:srgbClr val="018090"/>
                      </a:solidFill>
                      <a:prstDash val="solid"/>
                    </a:lnT>
                    <a:solidFill>
                      <a:srgbClr val="FFFFFF">
                        <a:alpha val="10195"/>
                      </a:srgbClr>
                    </a:solidFill>
                  </a:tcPr>
                </a:tc>
              </a:tr>
              <a:tr h="314325">
                <a:tc gridSpan="3">
                  <a:txBody>
                    <a:bodyPr/>
                    <a:lstStyle/>
                    <a:p>
                      <a:pPr marR="123189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Config:</a:t>
                      </a:r>
                      <a:r>
                        <a:rPr sz="1050" spc="2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clients</a:t>
                      </a:r>
                      <a:r>
                        <a:rPr sz="1050" spc="2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2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0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FL</a:t>
                      </a:r>
                      <a:r>
                        <a:rPr sz="10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rounds</a:t>
                      </a:r>
                      <a:r>
                        <a:rPr sz="1050" spc="229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1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050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local</a:t>
                      </a:r>
                      <a:r>
                        <a:rPr sz="105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epochs</a:t>
                      </a:r>
                      <a:r>
                        <a:rPr sz="1050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sz="10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round</a:t>
                      </a:r>
                      <a:r>
                        <a:rPr sz="1050" spc="2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2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MNIST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dataset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(60K</a:t>
                      </a:r>
                      <a:r>
                        <a:rPr sz="105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train</a:t>
                      </a:r>
                      <a:r>
                        <a:rPr sz="105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050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10K</a:t>
                      </a:r>
                      <a:r>
                        <a:rPr sz="105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18090"/>
                      </a:solidFill>
                      <a:prstDash val="solid"/>
                    </a:lnL>
                    <a:lnR w="9525">
                      <a:solidFill>
                        <a:srgbClr val="018090"/>
                      </a:solidFill>
                      <a:prstDash val="solid"/>
                    </a:lnR>
                    <a:solidFill>
                      <a:srgbClr val="0180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38175"/>
          </a:xfrm>
          <a:custGeom>
            <a:avLst/>
            <a:gdLst/>
            <a:ahLst/>
            <a:cxnLst/>
            <a:rect l="l" t="t" r="r" b="b"/>
            <a:pathLst>
              <a:path w="9144000" h="638175">
                <a:moveTo>
                  <a:pt x="9144000" y="0"/>
                </a:moveTo>
                <a:lnTo>
                  <a:pt x="0" y="0"/>
                </a:lnTo>
                <a:lnTo>
                  <a:pt x="0" y="638175"/>
                </a:lnTo>
                <a:lnTo>
                  <a:pt x="9144000" y="638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1E293A"/>
                </a:solidFill>
              </a:rPr>
              <a:t>Dataset</a:t>
            </a:r>
            <a:r>
              <a:rPr spc="140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—</a:t>
            </a:r>
            <a:r>
              <a:rPr spc="145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MNIST</a:t>
            </a:r>
            <a:r>
              <a:rPr spc="95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&amp;</a:t>
            </a:r>
            <a:r>
              <a:rPr spc="150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Data</a:t>
            </a:r>
            <a:r>
              <a:rPr spc="145" dirty="0">
                <a:solidFill>
                  <a:srgbClr val="1E293A"/>
                </a:solidFill>
              </a:rPr>
              <a:t> </a:t>
            </a:r>
            <a:r>
              <a:rPr dirty="0">
                <a:solidFill>
                  <a:srgbClr val="1E293A"/>
                </a:solidFill>
              </a:rPr>
              <a:t>Partitioning</a:t>
            </a:r>
            <a:r>
              <a:rPr spc="105" dirty="0">
                <a:solidFill>
                  <a:srgbClr val="1E293A"/>
                </a:solidFill>
              </a:rPr>
              <a:t> </a:t>
            </a:r>
            <a:r>
              <a:rPr spc="-10" dirty="0">
                <a:solidFill>
                  <a:srgbClr val="1E293A"/>
                </a:solidFill>
              </a:rPr>
              <a:t>Strategy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075" y="695261"/>
            <a:ext cx="8644001" cy="9096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1950" y="781050"/>
            <a:ext cx="8420100" cy="685800"/>
          </a:xfrm>
          <a:prstGeom prst="rect">
            <a:avLst/>
          </a:prstGeom>
          <a:solidFill>
            <a:srgbClr val="018090"/>
          </a:solidFill>
        </p:spPr>
        <p:txBody>
          <a:bodyPr vert="horz" wrap="square" lIns="0" tIns="144145" rIns="0" bIns="0" rtlCol="0">
            <a:spAutoFit/>
          </a:bodyPr>
          <a:lstStyle/>
          <a:p>
            <a:pPr marL="278765" marR="332105">
              <a:lnSpc>
                <a:spcPct val="100000"/>
              </a:lnSpc>
              <a:spcBef>
                <a:spcPts val="113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MNIST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Dataset:</a:t>
            </a:r>
            <a:r>
              <a:rPr sz="125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70,000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grayscale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r>
              <a:rPr sz="125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(28×28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px)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handwritten</a:t>
            </a:r>
            <a:r>
              <a:rPr sz="12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digits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0–9.</a:t>
            </a:r>
            <a:r>
              <a:rPr sz="125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60,000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12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10,000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125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samples.</a:t>
            </a:r>
            <a:r>
              <a:rPr sz="1250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10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digit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classes.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8600" y="1514411"/>
            <a:ext cx="8644255" cy="3529329"/>
            <a:chOff x="228600" y="1514411"/>
            <a:chExt cx="8644255" cy="352932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" y="1514411"/>
              <a:ext cx="8644001" cy="35290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6237" y="1604962"/>
              <a:ext cx="8410575" cy="3295650"/>
            </a:xfrm>
            <a:custGeom>
              <a:avLst/>
              <a:gdLst/>
              <a:ahLst/>
              <a:cxnLst/>
              <a:rect l="l" t="t" r="r" b="b"/>
              <a:pathLst>
                <a:path w="8410575" h="3295650">
                  <a:moveTo>
                    <a:pt x="8410575" y="0"/>
                  </a:moveTo>
                  <a:lnTo>
                    <a:pt x="0" y="0"/>
                  </a:lnTo>
                  <a:lnTo>
                    <a:pt x="0" y="3295650"/>
                  </a:lnTo>
                  <a:lnTo>
                    <a:pt x="8410575" y="3295650"/>
                  </a:lnTo>
                  <a:lnTo>
                    <a:pt x="8410575" y="0"/>
                  </a:lnTo>
                  <a:close/>
                </a:path>
              </a:pathLst>
            </a:custGeom>
            <a:solidFill>
              <a:srgbClr val="D0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6237" y="1604962"/>
              <a:ext cx="8410575" cy="3295650"/>
            </a:xfrm>
            <a:custGeom>
              <a:avLst/>
              <a:gdLst/>
              <a:ahLst/>
              <a:cxnLst/>
              <a:rect l="l" t="t" r="r" b="b"/>
              <a:pathLst>
                <a:path w="8410575" h="3295650">
                  <a:moveTo>
                    <a:pt x="0" y="3295650"/>
                  </a:moveTo>
                  <a:lnTo>
                    <a:pt x="8410575" y="3295650"/>
                  </a:lnTo>
                  <a:lnTo>
                    <a:pt x="8410575" y="0"/>
                  </a:lnTo>
                  <a:lnTo>
                    <a:pt x="0" y="0"/>
                  </a:lnTo>
                  <a:lnTo>
                    <a:pt x="0" y="3295650"/>
                  </a:lnTo>
                  <a:close/>
                </a:path>
              </a:pathLst>
            </a:custGeom>
            <a:ln w="9525">
              <a:solidFill>
                <a:srgbClr val="0A4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26427" y="2047176"/>
            <a:ext cx="5851525" cy="22225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MNIST</a:t>
            </a:r>
            <a:r>
              <a:rPr sz="1550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dataset</a:t>
            </a:r>
            <a:r>
              <a:rPr sz="1550" spc="1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contains</a:t>
            </a:r>
            <a:r>
              <a:rPr sz="1550" spc="19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70,000</a:t>
            </a:r>
            <a:r>
              <a:rPr sz="1550" b="1" spc="1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handwritten</a:t>
            </a:r>
            <a:r>
              <a:rPr sz="1550" b="1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digit</a:t>
            </a:r>
            <a:r>
              <a:rPr sz="1550" b="1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images</a:t>
            </a:r>
            <a:r>
              <a:rPr sz="1550" b="1" spc="8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(0–</a:t>
            </a:r>
            <a:r>
              <a:rPr sz="1550" b="1" spc="-25" dirty="0">
                <a:solidFill>
                  <a:srgbClr val="1E293A"/>
                </a:solidFill>
                <a:latin typeface="Calibri"/>
                <a:cs typeface="Calibri"/>
              </a:rPr>
              <a:t>9)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1E293A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Each</a:t>
            </a:r>
            <a:r>
              <a:rPr sz="1550" spc="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image</a:t>
            </a:r>
            <a:r>
              <a:rPr sz="1550" spc="1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550" spc="1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28×28</a:t>
            </a:r>
            <a:r>
              <a:rPr sz="1550" b="1" spc="1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grayscale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,</a:t>
            </a:r>
            <a:r>
              <a:rPr sz="1550" spc="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used</a:t>
            </a:r>
            <a:r>
              <a:rPr sz="1550" spc="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for</a:t>
            </a:r>
            <a:r>
              <a:rPr sz="1550" spc="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classification</a:t>
            </a:r>
            <a:r>
              <a:rPr sz="1550" spc="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E293A"/>
                </a:solidFill>
                <a:latin typeface="Calibri"/>
                <a:cs typeface="Calibri"/>
              </a:rPr>
              <a:t>tasks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1E293A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IID</a:t>
            </a:r>
            <a:r>
              <a:rPr sz="1550" b="1" spc="1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split:</a:t>
            </a:r>
            <a:r>
              <a:rPr sz="1550" b="1" spc="1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each</a:t>
            </a:r>
            <a:r>
              <a:rPr sz="1550" spc="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client</a:t>
            </a:r>
            <a:r>
              <a:rPr sz="1550" spc="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gets</a:t>
            </a:r>
            <a:r>
              <a:rPr sz="1550" spc="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balanced</a:t>
            </a:r>
            <a:r>
              <a:rPr sz="1550" spc="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550" spc="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with</a:t>
            </a:r>
            <a:r>
              <a:rPr sz="1550" spc="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all</a:t>
            </a:r>
            <a:r>
              <a:rPr sz="1550" spc="8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digit</a:t>
            </a:r>
            <a:r>
              <a:rPr sz="1550" spc="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E293A"/>
                </a:solidFill>
                <a:latin typeface="Calibri"/>
                <a:cs typeface="Calibri"/>
              </a:rPr>
              <a:t>classes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1E293A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Non-IID</a:t>
            </a:r>
            <a:r>
              <a:rPr sz="1550" b="1" spc="1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split:</a:t>
            </a:r>
            <a:r>
              <a:rPr sz="1550" b="1" spc="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each</a:t>
            </a:r>
            <a:r>
              <a:rPr sz="1550" spc="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client</a:t>
            </a:r>
            <a:r>
              <a:rPr sz="1550" spc="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gets</a:t>
            </a:r>
            <a:r>
              <a:rPr sz="1550" spc="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only</a:t>
            </a:r>
            <a:r>
              <a:rPr sz="1550" spc="10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sz="1550" spc="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subset</a:t>
            </a:r>
            <a:r>
              <a:rPr sz="1550" spc="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of</a:t>
            </a:r>
            <a:r>
              <a:rPr sz="1550" spc="114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digit</a:t>
            </a:r>
            <a:r>
              <a:rPr sz="1550" spc="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E293A"/>
                </a:solidFill>
                <a:latin typeface="Calibri"/>
                <a:cs typeface="Calibri"/>
              </a:rPr>
              <a:t>classes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1E293A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We</a:t>
            </a:r>
            <a:r>
              <a:rPr sz="1550" spc="1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E293A"/>
                </a:solidFill>
                <a:latin typeface="Calibri"/>
                <a:cs typeface="Calibri"/>
              </a:rPr>
              <a:t>used</a:t>
            </a:r>
            <a:r>
              <a:rPr sz="1550" spc="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Non-IID</a:t>
            </a:r>
            <a:r>
              <a:rPr sz="1550" b="1" spc="1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setting</a:t>
            </a:r>
            <a:r>
              <a:rPr sz="1550" b="1" spc="8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550" b="1" spc="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simulate</a:t>
            </a:r>
            <a:r>
              <a:rPr sz="1550" b="1" spc="114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real-world</a:t>
            </a:r>
            <a:r>
              <a:rPr sz="1550" b="1" spc="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E293A"/>
                </a:solidFill>
                <a:latin typeface="Calibri"/>
                <a:cs typeface="Calibri"/>
              </a:rPr>
              <a:t>federated</a:t>
            </a:r>
            <a:r>
              <a:rPr sz="1550" b="1" spc="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1E293A"/>
                </a:solidFill>
                <a:latin typeface="Calibri"/>
                <a:cs typeface="Calibri"/>
              </a:rPr>
              <a:t>learning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11" name="object 11" descr="A screenshot of a number  AI-generated content may be incorrect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00675" y="2047811"/>
            <a:ext cx="3205226" cy="21670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49"/>
            <a:ext cx="9144000" cy="5048250"/>
          </a:xfrm>
          <a:custGeom>
            <a:avLst/>
            <a:gdLst/>
            <a:ahLst/>
            <a:cxnLst/>
            <a:rect l="l" t="t" r="r" b="b"/>
            <a:pathLst>
              <a:path w="9144000" h="5048250">
                <a:moveTo>
                  <a:pt x="9144000" y="0"/>
                </a:moveTo>
                <a:lnTo>
                  <a:pt x="0" y="0"/>
                </a:lnTo>
                <a:lnTo>
                  <a:pt x="0" y="5048250"/>
                </a:lnTo>
                <a:lnTo>
                  <a:pt x="9144000" y="5048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D0EE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 descr="A graph with numbers and lines  AI-generated content may be incorrect."/>
          <p:cNvGrpSpPr/>
          <p:nvPr/>
        </p:nvGrpSpPr>
        <p:grpSpPr>
          <a:xfrm>
            <a:off x="704850" y="419100"/>
            <a:ext cx="7734300" cy="4400550"/>
            <a:chOff x="704850" y="419100"/>
            <a:chExt cx="7734300" cy="4400550"/>
          </a:xfrm>
        </p:grpSpPr>
        <p:pic>
          <p:nvPicPr>
            <p:cNvPr id="4" name="object 4" descr="A graph with numbers and lines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476250"/>
              <a:ext cx="7620000" cy="42862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3425" y="447675"/>
              <a:ext cx="7677150" cy="4343400"/>
            </a:xfrm>
            <a:custGeom>
              <a:avLst/>
              <a:gdLst/>
              <a:ahLst/>
              <a:cxnLst/>
              <a:rect l="l" t="t" r="r" b="b"/>
              <a:pathLst>
                <a:path w="7677150" h="4343400">
                  <a:moveTo>
                    <a:pt x="0" y="4343400"/>
                  </a:moveTo>
                  <a:lnTo>
                    <a:pt x="7677150" y="4343400"/>
                  </a:lnTo>
                  <a:lnTo>
                    <a:pt x="7677150" y="0"/>
                  </a:lnTo>
                  <a:lnTo>
                    <a:pt x="0" y="0"/>
                  </a:lnTo>
                  <a:lnTo>
                    <a:pt x="0" y="4343400"/>
                  </a:lnTo>
                  <a:close/>
                </a:path>
              </a:pathLst>
            </a:custGeom>
            <a:ln w="57150">
              <a:solidFill>
                <a:srgbClr val="0A4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38175"/>
          </a:xfrm>
          <a:custGeom>
            <a:avLst/>
            <a:gdLst/>
            <a:ahLst/>
            <a:cxnLst/>
            <a:rect l="l" t="t" r="r" b="b"/>
            <a:pathLst>
              <a:path w="9144000" h="638175">
                <a:moveTo>
                  <a:pt x="9144000" y="0"/>
                </a:moveTo>
                <a:lnTo>
                  <a:pt x="0" y="0"/>
                </a:lnTo>
                <a:lnTo>
                  <a:pt x="0" y="638175"/>
                </a:lnTo>
                <a:lnTo>
                  <a:pt x="9144000" y="638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B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Final</a:t>
            </a:r>
            <a:r>
              <a:rPr spc="105" dirty="0"/>
              <a:t> </a:t>
            </a:r>
            <a:r>
              <a:rPr dirty="0"/>
              <a:t>Performance</a:t>
            </a:r>
            <a:r>
              <a:rPr spc="130" dirty="0"/>
              <a:t> </a:t>
            </a:r>
            <a:r>
              <a:rPr dirty="0"/>
              <a:t>Summary</a:t>
            </a:r>
            <a:r>
              <a:rPr spc="195" dirty="0"/>
              <a:t> </a:t>
            </a:r>
            <a:r>
              <a:rPr dirty="0"/>
              <a:t>—</a:t>
            </a:r>
            <a:r>
              <a:rPr spc="165" dirty="0"/>
              <a:t> </a:t>
            </a:r>
            <a:r>
              <a:rPr dirty="0"/>
              <a:t>All</a:t>
            </a:r>
            <a:r>
              <a:rPr spc="190" dirty="0"/>
              <a:t> </a:t>
            </a:r>
            <a:r>
              <a:rPr spc="-10" dirty="0"/>
              <a:t>Methods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981261"/>
            <a:ext cx="8644001" cy="21003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6237" y="3071812"/>
            <a:ext cx="8410575" cy="1866900"/>
          </a:xfrm>
          <a:prstGeom prst="rect">
            <a:avLst/>
          </a:prstGeom>
          <a:solidFill>
            <a:srgbClr val="ABD7DF"/>
          </a:solidFill>
          <a:ln w="9525">
            <a:solidFill>
              <a:srgbClr val="0A4852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1500"/>
              </a:spcBef>
            </a:pPr>
            <a:r>
              <a:rPr sz="1550" b="1" dirty="0">
                <a:solidFill>
                  <a:srgbClr val="01606D"/>
                </a:solidFill>
                <a:latin typeface="Calibri"/>
                <a:cs typeface="Calibri"/>
              </a:rPr>
              <a:t>Key</a:t>
            </a:r>
            <a:r>
              <a:rPr sz="1550" b="1" spc="8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1606D"/>
                </a:solidFill>
                <a:latin typeface="Calibri"/>
                <a:cs typeface="Calibri"/>
              </a:rPr>
              <a:t>Trade-</a:t>
            </a:r>
            <a:r>
              <a:rPr sz="1550" b="1" spc="-25" dirty="0">
                <a:solidFill>
                  <a:srgbClr val="01606D"/>
                </a:solidFill>
                <a:latin typeface="Calibri"/>
                <a:cs typeface="Calibri"/>
              </a:rPr>
              <a:t>off</a:t>
            </a:r>
            <a:endParaRPr sz="1550">
              <a:latin typeface="Calibri"/>
              <a:cs typeface="Calibri"/>
            </a:endParaRPr>
          </a:p>
          <a:p>
            <a:pPr marL="640080" indent="-132080">
              <a:lnSpc>
                <a:spcPct val="100000"/>
              </a:lnSpc>
              <a:spcBef>
                <a:spcPts val="1070"/>
              </a:spcBef>
              <a:buChar char="•"/>
              <a:tabLst>
                <a:tab pos="640080" algn="l"/>
              </a:tabLst>
            </a:pPr>
            <a:r>
              <a:rPr sz="1400" b="1" spc="-10" dirty="0">
                <a:solidFill>
                  <a:srgbClr val="1E293A"/>
                </a:solidFill>
                <a:latin typeface="Calibri"/>
                <a:cs typeface="Calibri"/>
              </a:rPr>
              <a:t>Centralized:</a:t>
            </a:r>
            <a:r>
              <a:rPr sz="1400" b="1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E293A"/>
                </a:solidFill>
                <a:latin typeface="Calibri"/>
                <a:cs typeface="Calibri"/>
              </a:rPr>
              <a:t>Fastest</a:t>
            </a:r>
            <a:r>
              <a:rPr sz="14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but</a:t>
            </a:r>
            <a:r>
              <a:rPr sz="14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no</a:t>
            </a:r>
            <a:r>
              <a:rPr sz="14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privacy</a:t>
            </a:r>
            <a:endParaRPr sz="1400">
              <a:latin typeface="Calibri"/>
              <a:cs typeface="Calibri"/>
            </a:endParaRPr>
          </a:p>
          <a:p>
            <a:pPr marL="635635" indent="-127635">
              <a:lnSpc>
                <a:spcPct val="100000"/>
              </a:lnSpc>
              <a:spcBef>
                <a:spcPts val="1175"/>
              </a:spcBef>
              <a:buChar char="•"/>
              <a:tabLst>
                <a:tab pos="635635" algn="l"/>
              </a:tabLst>
            </a:pPr>
            <a:r>
              <a:rPr sz="1400" b="1" spc="-10" dirty="0">
                <a:solidFill>
                  <a:srgbClr val="1E293A"/>
                </a:solidFill>
                <a:latin typeface="Calibri"/>
                <a:cs typeface="Calibri"/>
              </a:rPr>
              <a:t>FedProx:</a:t>
            </a:r>
            <a:r>
              <a:rPr sz="1400" b="1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Best</a:t>
            </a:r>
            <a:r>
              <a:rPr sz="140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accuracy</a:t>
            </a:r>
            <a:r>
              <a:rPr sz="1400" spc="-8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+</a:t>
            </a:r>
            <a:r>
              <a:rPr sz="140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privacy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E293A"/>
                </a:solidFill>
                <a:latin typeface="Calibri"/>
                <a:cs typeface="Calibri"/>
              </a:rPr>
              <a:t>safe</a:t>
            </a:r>
            <a:endParaRPr sz="1400">
              <a:latin typeface="Calibri"/>
              <a:cs typeface="Calibri"/>
            </a:endParaRPr>
          </a:p>
          <a:p>
            <a:pPr marL="635635" indent="-127635">
              <a:lnSpc>
                <a:spcPct val="100000"/>
              </a:lnSpc>
              <a:spcBef>
                <a:spcPts val="1325"/>
              </a:spcBef>
              <a:buChar char="•"/>
              <a:tabLst>
                <a:tab pos="635635" algn="l"/>
              </a:tabLst>
            </a:pPr>
            <a:r>
              <a:rPr sz="1400" b="1" spc="-10" dirty="0">
                <a:solidFill>
                  <a:srgbClr val="1E293A"/>
                </a:solidFill>
                <a:latin typeface="Calibri"/>
                <a:cs typeface="Calibri"/>
              </a:rPr>
              <a:t>FedAvg:</a:t>
            </a:r>
            <a:r>
              <a:rPr sz="1400" b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Best</a:t>
            </a:r>
            <a:r>
              <a:rPr sz="1400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balance</a:t>
            </a:r>
            <a:r>
              <a:rPr sz="140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of</a:t>
            </a:r>
            <a:r>
              <a:rPr sz="14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speed</a:t>
            </a:r>
            <a:r>
              <a:rPr sz="14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93A"/>
                </a:solidFill>
                <a:latin typeface="Calibri"/>
                <a:cs typeface="Calibri"/>
              </a:rPr>
              <a:t>&amp;</a:t>
            </a:r>
            <a:r>
              <a:rPr sz="14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93A"/>
                </a:solidFill>
                <a:latin typeface="Calibri"/>
                <a:cs typeface="Calibri"/>
              </a:rPr>
              <a:t>accuracy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1475" y="1329689"/>
            <a:ext cx="8401050" cy="1047750"/>
            <a:chOff x="371475" y="1329689"/>
            <a:chExt cx="8401050" cy="1047750"/>
          </a:xfrm>
        </p:grpSpPr>
        <p:sp>
          <p:nvSpPr>
            <p:cNvPr id="7" name="object 7"/>
            <p:cNvSpPr/>
            <p:nvPr/>
          </p:nvSpPr>
          <p:spPr>
            <a:xfrm>
              <a:off x="371475" y="1329689"/>
              <a:ext cx="8401050" cy="523875"/>
            </a:xfrm>
            <a:custGeom>
              <a:avLst/>
              <a:gdLst/>
              <a:ahLst/>
              <a:cxnLst/>
              <a:rect l="l" t="t" r="r" b="b"/>
              <a:pathLst>
                <a:path w="8401050" h="523875">
                  <a:moveTo>
                    <a:pt x="8401050" y="0"/>
                  </a:moveTo>
                  <a:lnTo>
                    <a:pt x="8401050" y="0"/>
                  </a:lnTo>
                  <a:lnTo>
                    <a:pt x="0" y="0"/>
                  </a:lnTo>
                  <a:lnTo>
                    <a:pt x="0" y="523875"/>
                  </a:lnTo>
                  <a:lnTo>
                    <a:pt x="8401050" y="523875"/>
                  </a:lnTo>
                  <a:lnTo>
                    <a:pt x="8401050" y="0"/>
                  </a:lnTo>
                  <a:close/>
                </a:path>
              </a:pathLst>
            </a:custGeom>
            <a:solidFill>
              <a:srgbClr val="E8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1475" y="1853564"/>
              <a:ext cx="8401050" cy="523875"/>
            </a:xfrm>
            <a:custGeom>
              <a:avLst/>
              <a:gdLst/>
              <a:ahLst/>
              <a:cxnLst/>
              <a:rect l="l" t="t" r="r" b="b"/>
              <a:pathLst>
                <a:path w="8401050" h="523875">
                  <a:moveTo>
                    <a:pt x="8401050" y="0"/>
                  </a:moveTo>
                  <a:lnTo>
                    <a:pt x="8401050" y="0"/>
                  </a:lnTo>
                  <a:lnTo>
                    <a:pt x="0" y="0"/>
                  </a:lnTo>
                  <a:lnTo>
                    <a:pt x="0" y="523875"/>
                  </a:lnTo>
                  <a:lnTo>
                    <a:pt x="8401050" y="523875"/>
                  </a:lnTo>
                  <a:lnTo>
                    <a:pt x="8401050" y="0"/>
                  </a:lnTo>
                  <a:close/>
                </a:path>
              </a:pathLst>
            </a:custGeom>
            <a:solidFill>
              <a:srgbClr val="EFF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66712" y="801052"/>
          <a:ext cx="8401050" cy="2095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175"/>
                <a:gridCol w="1400175"/>
                <a:gridCol w="1400175"/>
                <a:gridCol w="1400175"/>
                <a:gridCol w="1400175"/>
                <a:gridCol w="1400175"/>
              </a:tblGrid>
              <a:tr h="52387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b="1" spc="-1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5BBCC8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b="1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sz="1200" b="1" spc="35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5BBCC8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b="1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sz="1200" b="1" spc="1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Loss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5BBCC8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b="1" spc="-1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Training</a:t>
                      </a:r>
                      <a:r>
                        <a:rPr sz="1200" b="1" spc="-45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5BBCC8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b="1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Privacy</a:t>
                      </a:r>
                      <a:r>
                        <a:rPr sz="1200" b="1" spc="-55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Safe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5BBCC8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b="1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Speed</a:t>
                      </a:r>
                      <a:r>
                        <a:rPr sz="1200" b="1" spc="5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0A4852"/>
                          </a:solidFill>
                          <a:latin typeface="Calibri"/>
                          <a:cs typeface="Calibri"/>
                        </a:rPr>
                        <a:t>Rank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5BBCC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FedAvg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250" b="1" spc="-10" dirty="0">
                          <a:solidFill>
                            <a:srgbClr val="018090"/>
                          </a:solidFill>
                          <a:latin typeface="Calibri"/>
                          <a:cs typeface="Calibri"/>
                        </a:rPr>
                        <a:t>99.88%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6065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0.0078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148.66</a:t>
                      </a:r>
                      <a:r>
                        <a:rPr sz="1200" spc="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sec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b="1" spc="-25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#2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FedProx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FF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250" b="1" spc="-10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99.95%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FFCF4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0.0060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FFCF4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174.39</a:t>
                      </a:r>
                      <a:r>
                        <a:rPr sz="1200" spc="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sec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FFCF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b="1" spc="-25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FFCF4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#3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FFCF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Centralized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25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99.57%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20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41084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200" b="1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82.44</a:t>
                      </a:r>
                      <a:r>
                        <a:rPr sz="1200" b="1" spc="5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16A249"/>
                          </a:solidFill>
                          <a:latin typeface="Calibri"/>
                          <a:cs typeface="Calibri"/>
                        </a:rPr>
                        <a:t>sec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200" b="1" spc="-25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#1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D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Final</a:t>
            </a:r>
            <a:r>
              <a:rPr spc="105" dirty="0"/>
              <a:t> </a:t>
            </a:r>
            <a:r>
              <a:rPr dirty="0"/>
              <a:t>Performance</a:t>
            </a:r>
            <a:r>
              <a:rPr spc="130" dirty="0"/>
              <a:t> </a:t>
            </a:r>
            <a:r>
              <a:rPr dirty="0"/>
              <a:t>Summary</a:t>
            </a:r>
            <a:r>
              <a:rPr spc="195" dirty="0"/>
              <a:t> </a:t>
            </a:r>
            <a:r>
              <a:rPr dirty="0"/>
              <a:t>—</a:t>
            </a:r>
            <a:r>
              <a:rPr spc="165" dirty="0"/>
              <a:t> </a:t>
            </a:r>
            <a:r>
              <a:rPr dirty="0"/>
              <a:t>All</a:t>
            </a:r>
            <a:r>
              <a:rPr spc="190" dirty="0"/>
              <a:t> </a:t>
            </a:r>
            <a:r>
              <a:rPr spc="-10" dirty="0"/>
              <a:t>Methods</a:t>
            </a:r>
          </a:p>
        </p:txBody>
      </p:sp>
      <p:grpSp>
        <p:nvGrpSpPr>
          <p:cNvPr id="3" name="object 3" descr="A graph with different colored bars  AI-generated content may be incorrect."/>
          <p:cNvGrpSpPr/>
          <p:nvPr/>
        </p:nvGrpSpPr>
        <p:grpSpPr>
          <a:xfrm>
            <a:off x="800100" y="857250"/>
            <a:ext cx="7543800" cy="4067175"/>
            <a:chOff x="800100" y="857250"/>
            <a:chExt cx="7543800" cy="4067175"/>
          </a:xfrm>
        </p:grpSpPr>
        <p:pic>
          <p:nvPicPr>
            <p:cNvPr id="4" name="object 4" descr="A graph with different colored bars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50" y="914400"/>
              <a:ext cx="7429500" cy="39528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8675" y="885825"/>
              <a:ext cx="7486650" cy="4010025"/>
            </a:xfrm>
            <a:custGeom>
              <a:avLst/>
              <a:gdLst/>
              <a:ahLst/>
              <a:cxnLst/>
              <a:rect l="l" t="t" r="r" b="b"/>
              <a:pathLst>
                <a:path w="7486650" h="4010025">
                  <a:moveTo>
                    <a:pt x="0" y="4010025"/>
                  </a:moveTo>
                  <a:lnTo>
                    <a:pt x="7486650" y="4010025"/>
                  </a:lnTo>
                  <a:lnTo>
                    <a:pt x="7486650" y="0"/>
                  </a:lnTo>
                  <a:lnTo>
                    <a:pt x="0" y="0"/>
                  </a:lnTo>
                  <a:lnTo>
                    <a:pt x="0" y="4010025"/>
                  </a:lnTo>
                  <a:close/>
                </a:path>
              </a:pathLst>
            </a:custGeom>
            <a:ln w="57150">
              <a:solidFill>
                <a:srgbClr val="0A4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" y="0"/>
            <a:ext cx="9145905" cy="5145405"/>
            <a:chOff x="-952" y="0"/>
            <a:chExt cx="9145905" cy="5145405"/>
          </a:xfrm>
        </p:grpSpPr>
        <p:sp>
          <p:nvSpPr>
            <p:cNvPr id="3" name="object 3"/>
            <p:cNvSpPr/>
            <p:nvPr/>
          </p:nvSpPr>
          <p:spPr>
            <a:xfrm>
              <a:off x="0" y="638175"/>
              <a:ext cx="9144000" cy="4505325"/>
            </a:xfrm>
            <a:custGeom>
              <a:avLst/>
              <a:gdLst/>
              <a:ahLst/>
              <a:cxnLst/>
              <a:rect l="l" t="t" r="r" b="b"/>
              <a:pathLst>
                <a:path w="9144000" h="4505325">
                  <a:moveTo>
                    <a:pt x="0" y="4505324"/>
                  </a:moveTo>
                  <a:lnTo>
                    <a:pt x="9144000" y="450532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505324"/>
                  </a:lnTo>
                  <a:close/>
                </a:path>
              </a:pathLst>
            </a:custGeom>
            <a:solidFill>
              <a:srgbClr val="D0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38175"/>
            </a:xfrm>
            <a:custGeom>
              <a:avLst/>
              <a:gdLst/>
              <a:ahLst/>
              <a:cxnLst/>
              <a:rect l="l" t="t" r="r" b="b"/>
              <a:pathLst>
                <a:path w="9144000" h="638175">
                  <a:moveTo>
                    <a:pt x="9144000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9144000" y="6381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Speed</a:t>
            </a:r>
            <a:r>
              <a:rPr spc="114" dirty="0"/>
              <a:t> </a:t>
            </a:r>
            <a:r>
              <a:rPr dirty="0"/>
              <a:t>Analysis</a:t>
            </a:r>
            <a:r>
              <a:rPr spc="100" dirty="0"/>
              <a:t> </a:t>
            </a:r>
            <a:r>
              <a:rPr dirty="0"/>
              <a:t>—</a:t>
            </a:r>
            <a:r>
              <a:rPr spc="130" dirty="0"/>
              <a:t> </a:t>
            </a:r>
            <a:r>
              <a:rPr dirty="0"/>
              <a:t>Training</a:t>
            </a:r>
            <a:r>
              <a:rPr spc="75" dirty="0"/>
              <a:t> </a:t>
            </a:r>
            <a:r>
              <a:rPr dirty="0"/>
              <a:t>Time</a:t>
            </a:r>
            <a:r>
              <a:rPr spc="175" dirty="0"/>
              <a:t> </a:t>
            </a:r>
            <a:r>
              <a:rPr dirty="0"/>
              <a:t>&amp;</a:t>
            </a:r>
            <a:r>
              <a:rPr spc="125" dirty="0"/>
              <a:t> </a:t>
            </a:r>
            <a:r>
              <a:rPr spc="-10" dirty="0"/>
              <a:t>Overhead</a:t>
            </a:r>
          </a:p>
        </p:txBody>
      </p:sp>
      <p:sp>
        <p:nvSpPr>
          <p:cNvPr id="6" name="object 6"/>
          <p:cNvSpPr/>
          <p:nvPr/>
        </p:nvSpPr>
        <p:spPr>
          <a:xfrm>
            <a:off x="323850" y="781050"/>
            <a:ext cx="2743200" cy="4152900"/>
          </a:xfrm>
          <a:custGeom>
            <a:avLst/>
            <a:gdLst/>
            <a:ahLst/>
            <a:cxnLst/>
            <a:rect l="l" t="t" r="r" b="b"/>
            <a:pathLst>
              <a:path w="2743200" h="4152900">
                <a:moveTo>
                  <a:pt x="2743200" y="0"/>
                </a:moveTo>
                <a:lnTo>
                  <a:pt x="0" y="0"/>
                </a:lnTo>
                <a:lnTo>
                  <a:pt x="0" y="4152900"/>
                </a:lnTo>
                <a:lnTo>
                  <a:pt x="2743200" y="4152900"/>
                </a:lnTo>
                <a:lnTo>
                  <a:pt x="2743200" y="0"/>
                </a:lnTo>
                <a:close/>
              </a:path>
            </a:pathLst>
          </a:custGeom>
          <a:solidFill>
            <a:srgbClr val="018090">
              <a:alpha val="4392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9575" y="1695450"/>
            <a:ext cx="2562225" cy="28575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2349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85"/>
              </a:spcBef>
            </a:pPr>
            <a:r>
              <a:rPr sz="1400" b="1" dirty="0">
                <a:solidFill>
                  <a:srgbClr val="1E293A"/>
                </a:solidFill>
                <a:latin typeface="Calibri"/>
                <a:cs typeface="Calibri"/>
              </a:rPr>
              <a:t>#1</a:t>
            </a:r>
            <a:r>
              <a:rPr sz="1400" b="1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E293A"/>
                </a:solidFill>
                <a:latin typeface="Calibri"/>
                <a:cs typeface="Calibri"/>
              </a:rPr>
              <a:t>Fastest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9575" y="2028825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2225" y="0"/>
                </a:moveTo>
                <a:lnTo>
                  <a:pt x="0" y="0"/>
                </a:lnTo>
                <a:lnTo>
                  <a:pt x="0" y="38100"/>
                </a:lnTo>
                <a:lnTo>
                  <a:pt x="2562225" y="38100"/>
                </a:lnTo>
                <a:lnTo>
                  <a:pt x="2562225" y="0"/>
                </a:lnTo>
                <a:close/>
              </a:path>
            </a:pathLst>
          </a:custGeom>
          <a:solidFill>
            <a:srgbClr val="ABD7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3850" y="781050"/>
            <a:ext cx="2743200" cy="4152900"/>
          </a:xfrm>
          <a:prstGeom prst="rect">
            <a:avLst/>
          </a:prstGeom>
          <a:ln w="19050">
            <a:solidFill>
              <a:srgbClr val="ABD7DF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688975">
              <a:lnSpc>
                <a:spcPct val="100000"/>
              </a:lnSpc>
              <a:spcBef>
                <a:spcPts val="775"/>
              </a:spcBef>
            </a:pPr>
            <a:r>
              <a:rPr sz="1800" b="1" spc="-10" dirty="0">
                <a:solidFill>
                  <a:srgbClr val="1E293A"/>
                </a:solidFill>
                <a:latin typeface="Georgia"/>
                <a:cs typeface="Georgia"/>
              </a:rPr>
              <a:t>Centralized</a:t>
            </a:r>
            <a:endParaRPr sz="1800">
              <a:latin typeface="Georgia"/>
              <a:cs typeface="Georgia"/>
            </a:endParaRPr>
          </a:p>
          <a:p>
            <a:pPr marL="697865">
              <a:lnSpc>
                <a:spcPct val="100000"/>
              </a:lnSpc>
              <a:spcBef>
                <a:spcPts val="1085"/>
              </a:spcBef>
            </a:pPr>
            <a:r>
              <a:rPr sz="2150" b="1" dirty="0">
                <a:solidFill>
                  <a:srgbClr val="FFFFFF"/>
                </a:solidFill>
                <a:latin typeface="Georgia"/>
                <a:cs typeface="Georgia"/>
              </a:rPr>
              <a:t>82.44</a:t>
            </a:r>
            <a:r>
              <a:rPr sz="2150" b="1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150" b="1" spc="-25" dirty="0">
                <a:solidFill>
                  <a:srgbClr val="FFFFFF"/>
                </a:solidFill>
                <a:latin typeface="Georgia"/>
                <a:cs typeface="Georgia"/>
              </a:rPr>
              <a:t>sec</a:t>
            </a:r>
            <a:endParaRPr sz="215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1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340"/>
              </a:spcBef>
            </a:pPr>
            <a:endParaRPr sz="2150">
              <a:latin typeface="Georgia"/>
              <a:cs typeface="Georgia"/>
            </a:endParaRPr>
          </a:p>
          <a:p>
            <a:pPr marL="540385" indent="-342900">
              <a:lnSpc>
                <a:spcPct val="100000"/>
              </a:lnSpc>
              <a:buChar char="•"/>
              <a:tabLst>
                <a:tab pos="5403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machine</a:t>
            </a:r>
            <a:endParaRPr sz="1400">
              <a:latin typeface="Calibri"/>
              <a:cs typeface="Calibri"/>
            </a:endParaRPr>
          </a:p>
          <a:p>
            <a:pPr marL="540385" marR="817880" indent="-343535">
              <a:lnSpc>
                <a:spcPts val="1650"/>
              </a:lnSpc>
              <a:spcBef>
                <a:spcPts val="130"/>
              </a:spcBef>
              <a:buChar char="•"/>
              <a:tabLst>
                <a:tab pos="5403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communication overhead</a:t>
            </a:r>
            <a:endParaRPr sz="1400">
              <a:latin typeface="Calibri"/>
              <a:cs typeface="Calibri"/>
            </a:endParaRPr>
          </a:p>
          <a:p>
            <a:pPr marL="540385" indent="-342900">
              <a:lnSpc>
                <a:spcPts val="1664"/>
              </a:lnSpc>
              <a:buChar char="•"/>
              <a:tabLst>
                <a:tab pos="5403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aggregation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endParaRPr sz="1400">
              <a:latin typeface="Calibri"/>
              <a:cs typeface="Calibri"/>
            </a:endParaRPr>
          </a:p>
          <a:p>
            <a:pPr marL="540385">
              <a:lnSpc>
                <a:spcPts val="1655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needed</a:t>
            </a:r>
            <a:endParaRPr sz="1400">
              <a:latin typeface="Calibri"/>
              <a:cs typeface="Calibri"/>
            </a:endParaRPr>
          </a:p>
          <a:p>
            <a:pPr marL="540385" marR="377190" indent="-343535">
              <a:lnSpc>
                <a:spcPts val="1730"/>
              </a:lnSpc>
              <a:spcBef>
                <a:spcPts val="5"/>
              </a:spcBef>
              <a:buChar char="•"/>
              <a:tabLst>
                <a:tab pos="5403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forward/backward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pass</a:t>
            </a:r>
            <a:endParaRPr sz="1400">
              <a:latin typeface="Calibri"/>
              <a:cs typeface="Calibri"/>
            </a:endParaRPr>
          </a:p>
          <a:p>
            <a:pPr marL="540385" indent="-342900">
              <a:lnSpc>
                <a:spcPts val="1585"/>
              </a:lnSpc>
              <a:buChar char="•"/>
              <a:tabLst>
                <a:tab pos="5403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synchronisation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67075" y="781050"/>
            <a:ext cx="2743200" cy="4152900"/>
          </a:xfrm>
          <a:custGeom>
            <a:avLst/>
            <a:gdLst/>
            <a:ahLst/>
            <a:cxnLst/>
            <a:rect l="l" t="t" r="r" b="b"/>
            <a:pathLst>
              <a:path w="2743200" h="4152900">
                <a:moveTo>
                  <a:pt x="2743200" y="0"/>
                </a:moveTo>
                <a:lnTo>
                  <a:pt x="0" y="0"/>
                </a:lnTo>
                <a:lnTo>
                  <a:pt x="0" y="4152900"/>
                </a:lnTo>
                <a:lnTo>
                  <a:pt x="2743200" y="4152900"/>
                </a:lnTo>
                <a:lnTo>
                  <a:pt x="2743200" y="0"/>
                </a:lnTo>
                <a:close/>
              </a:path>
            </a:pathLst>
          </a:custGeom>
          <a:solidFill>
            <a:srgbClr val="018090">
              <a:alpha val="6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52800" y="1695450"/>
            <a:ext cx="2562225" cy="28575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23495" rIns="0" bIns="0" rtlCol="0">
            <a:spAutoFit/>
          </a:bodyPr>
          <a:lstStyle/>
          <a:p>
            <a:pPr marL="813435">
              <a:lnSpc>
                <a:spcPct val="100000"/>
              </a:lnSpc>
              <a:spcBef>
                <a:spcPts val="185"/>
              </a:spcBef>
            </a:pPr>
            <a:r>
              <a:rPr sz="1400" b="1" dirty="0">
                <a:solidFill>
                  <a:srgbClr val="1E293A"/>
                </a:solidFill>
                <a:latin typeface="Calibri"/>
                <a:cs typeface="Calibri"/>
              </a:rPr>
              <a:t>#2</a:t>
            </a:r>
            <a:r>
              <a:rPr sz="1400" b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E293A"/>
                </a:solidFill>
                <a:latin typeface="Calibri"/>
                <a:cs typeface="Calibri"/>
              </a:rPr>
              <a:t>Moderate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52800" y="2028825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2225" y="0"/>
                </a:moveTo>
                <a:lnTo>
                  <a:pt x="0" y="0"/>
                </a:lnTo>
                <a:lnTo>
                  <a:pt x="0" y="38100"/>
                </a:lnTo>
                <a:lnTo>
                  <a:pt x="2562225" y="38100"/>
                </a:lnTo>
                <a:lnTo>
                  <a:pt x="2562225" y="0"/>
                </a:lnTo>
                <a:close/>
              </a:path>
            </a:pathLst>
          </a:custGeom>
          <a:solidFill>
            <a:srgbClr val="36C5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67075" y="781050"/>
            <a:ext cx="2743200" cy="4152900"/>
          </a:xfrm>
          <a:prstGeom prst="rect">
            <a:avLst/>
          </a:prstGeom>
          <a:ln w="19050">
            <a:solidFill>
              <a:srgbClr val="00B4D3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775"/>
              </a:spcBef>
            </a:pPr>
            <a:r>
              <a:rPr sz="1800" b="1" spc="-10" dirty="0">
                <a:solidFill>
                  <a:srgbClr val="1E293A"/>
                </a:solidFill>
                <a:latin typeface="Georgia"/>
                <a:cs typeface="Georgia"/>
              </a:rPr>
              <a:t>FedAvg</a:t>
            </a:r>
            <a:endParaRPr sz="1800">
              <a:latin typeface="Georgia"/>
              <a:cs typeface="Georgia"/>
            </a:endParaRPr>
          </a:p>
          <a:p>
            <a:pPr marL="630555">
              <a:lnSpc>
                <a:spcPct val="100000"/>
              </a:lnSpc>
              <a:spcBef>
                <a:spcPts val="1085"/>
              </a:spcBef>
            </a:pPr>
            <a:r>
              <a:rPr sz="2150" b="1" dirty="0">
                <a:solidFill>
                  <a:srgbClr val="FFFFFF"/>
                </a:solidFill>
                <a:latin typeface="Georgia"/>
                <a:cs typeface="Georgia"/>
              </a:rPr>
              <a:t>148.66</a:t>
            </a:r>
            <a:r>
              <a:rPr sz="2150" b="1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150" b="1" spc="-25" dirty="0">
                <a:solidFill>
                  <a:srgbClr val="FFFFFF"/>
                </a:solidFill>
                <a:latin typeface="Georgia"/>
                <a:cs typeface="Georgia"/>
              </a:rPr>
              <a:t>sec</a:t>
            </a:r>
            <a:endParaRPr sz="215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1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340"/>
              </a:spcBef>
            </a:pPr>
            <a:endParaRPr sz="2150">
              <a:latin typeface="Georgia"/>
              <a:cs typeface="Georgia"/>
            </a:endParaRPr>
          </a:p>
          <a:p>
            <a:pPr marL="544830" indent="-342900">
              <a:lnSpc>
                <a:spcPct val="100000"/>
              </a:lnSpc>
              <a:buChar char="•"/>
              <a:tabLst>
                <a:tab pos="54483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train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parallel</a:t>
            </a:r>
            <a:endParaRPr sz="1400">
              <a:latin typeface="Calibri"/>
              <a:cs typeface="Calibri"/>
            </a:endParaRPr>
          </a:p>
          <a:p>
            <a:pPr marL="544830" marR="443230" indent="-343535">
              <a:lnSpc>
                <a:spcPts val="1650"/>
              </a:lnSpc>
              <a:spcBef>
                <a:spcPts val="130"/>
              </a:spcBef>
              <a:buChar char="•"/>
              <a:tabLst>
                <a:tab pos="54483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aggregation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adds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overhead</a:t>
            </a:r>
            <a:endParaRPr sz="1400">
              <a:latin typeface="Calibri"/>
              <a:cs typeface="Calibri"/>
            </a:endParaRPr>
          </a:p>
          <a:p>
            <a:pPr marL="544830" indent="-342900">
              <a:lnSpc>
                <a:spcPts val="1664"/>
              </a:lnSpc>
              <a:buChar char="•"/>
              <a:tabLst>
                <a:tab pos="54483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round</a:t>
            </a:r>
            <a:endParaRPr sz="1400">
              <a:latin typeface="Calibri"/>
              <a:cs typeface="Calibri"/>
            </a:endParaRPr>
          </a:p>
          <a:p>
            <a:pPr marL="544830" indent="-342900">
              <a:lnSpc>
                <a:spcPts val="1655"/>
              </a:lnSpc>
              <a:buChar char="•"/>
              <a:tabLst>
                <a:tab pos="544830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FedAvg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weighted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endParaRPr sz="1400">
              <a:latin typeface="Calibri"/>
              <a:cs typeface="Calibri"/>
            </a:endParaRPr>
          </a:p>
          <a:p>
            <a:pPr marL="544830">
              <a:lnSpc>
                <a:spcPts val="1664"/>
              </a:lnSpc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endParaRPr sz="1400">
              <a:latin typeface="Calibri"/>
              <a:cs typeface="Calibri"/>
            </a:endParaRPr>
          </a:p>
          <a:p>
            <a:pPr marL="544830" marR="364490" indent="-343535">
              <a:lnSpc>
                <a:spcPts val="1650"/>
              </a:lnSpc>
              <a:spcBef>
                <a:spcPts val="125"/>
              </a:spcBef>
              <a:buChar char="•"/>
              <a:tabLst>
                <a:tab pos="54483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Balanced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speed/accuracy trade-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off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10300" y="781050"/>
            <a:ext cx="2743200" cy="4152900"/>
          </a:xfrm>
          <a:custGeom>
            <a:avLst/>
            <a:gdLst/>
            <a:ahLst/>
            <a:cxnLst/>
            <a:rect l="l" t="t" r="r" b="b"/>
            <a:pathLst>
              <a:path w="2743200" h="4152900">
                <a:moveTo>
                  <a:pt x="2743200" y="0"/>
                </a:moveTo>
                <a:lnTo>
                  <a:pt x="0" y="0"/>
                </a:lnTo>
                <a:lnTo>
                  <a:pt x="0" y="4152900"/>
                </a:lnTo>
                <a:lnTo>
                  <a:pt x="2743200" y="4152900"/>
                </a:lnTo>
                <a:lnTo>
                  <a:pt x="2743200" y="0"/>
                </a:lnTo>
                <a:close/>
              </a:path>
            </a:pathLst>
          </a:custGeom>
          <a:solidFill>
            <a:srgbClr val="018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96025" y="1695450"/>
            <a:ext cx="2562225" cy="28575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23495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85"/>
              </a:spcBef>
            </a:pPr>
            <a:r>
              <a:rPr sz="1400" b="1" dirty="0">
                <a:solidFill>
                  <a:srgbClr val="1E293A"/>
                </a:solidFill>
                <a:latin typeface="Calibri"/>
                <a:cs typeface="Calibri"/>
              </a:rPr>
              <a:t>#3</a:t>
            </a:r>
            <a:r>
              <a:rPr sz="1400" b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E293A"/>
                </a:solidFill>
                <a:latin typeface="Calibri"/>
                <a:cs typeface="Calibri"/>
              </a:rPr>
              <a:t>Slowest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96025" y="2028825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2225" y="0"/>
                </a:moveTo>
                <a:lnTo>
                  <a:pt x="0" y="0"/>
                </a:lnTo>
                <a:lnTo>
                  <a:pt x="0" y="38100"/>
                </a:lnTo>
                <a:lnTo>
                  <a:pt x="2562225" y="38100"/>
                </a:lnTo>
                <a:lnTo>
                  <a:pt x="2562225" y="0"/>
                </a:lnTo>
                <a:close/>
              </a:path>
            </a:pathLst>
          </a:custGeom>
          <a:solidFill>
            <a:srgbClr val="049F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10300" y="781050"/>
            <a:ext cx="2743200" cy="4152900"/>
          </a:xfrm>
          <a:prstGeom prst="rect">
            <a:avLst/>
          </a:prstGeom>
          <a:ln w="19050">
            <a:solidFill>
              <a:srgbClr val="36C5D9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879475">
              <a:lnSpc>
                <a:spcPct val="100000"/>
              </a:lnSpc>
              <a:spcBef>
                <a:spcPts val="775"/>
              </a:spcBef>
            </a:pPr>
            <a:r>
              <a:rPr sz="1800" b="1" spc="-10" dirty="0">
                <a:solidFill>
                  <a:srgbClr val="1E293A"/>
                </a:solidFill>
                <a:latin typeface="Georgia"/>
                <a:cs typeface="Georgia"/>
              </a:rPr>
              <a:t>FedProx</a:t>
            </a:r>
            <a:endParaRPr sz="1800">
              <a:latin typeface="Georgia"/>
              <a:cs typeface="Georgia"/>
            </a:endParaRPr>
          </a:p>
          <a:p>
            <a:pPr marL="654685">
              <a:lnSpc>
                <a:spcPct val="100000"/>
              </a:lnSpc>
              <a:spcBef>
                <a:spcPts val="1085"/>
              </a:spcBef>
            </a:pPr>
            <a:r>
              <a:rPr sz="2150" b="1" dirty="0">
                <a:solidFill>
                  <a:srgbClr val="FFFFFF"/>
                </a:solidFill>
                <a:latin typeface="Georgia"/>
                <a:cs typeface="Georgia"/>
              </a:rPr>
              <a:t>174.39</a:t>
            </a:r>
            <a:r>
              <a:rPr sz="2150" b="1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150" b="1" spc="-25" dirty="0">
                <a:solidFill>
                  <a:srgbClr val="FFFFFF"/>
                </a:solidFill>
                <a:latin typeface="Georgia"/>
                <a:cs typeface="Georgia"/>
              </a:rPr>
              <a:t>sec</a:t>
            </a:r>
            <a:endParaRPr sz="215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1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150">
              <a:latin typeface="Georgia"/>
              <a:cs typeface="Georgia"/>
            </a:endParaRPr>
          </a:p>
          <a:p>
            <a:pPr marL="549275" marR="544195" indent="-343535">
              <a:lnSpc>
                <a:spcPct val="103000"/>
              </a:lnSpc>
              <a:buChar char="•"/>
              <a:tabLst>
                <a:tab pos="549275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FedProx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proximal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term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computed</a:t>
            </a:r>
            <a:endParaRPr sz="1400">
              <a:latin typeface="Calibri"/>
              <a:cs typeface="Calibri"/>
            </a:endParaRPr>
          </a:p>
          <a:p>
            <a:pPr marL="549275" indent="-342900">
              <a:lnSpc>
                <a:spcPts val="1650"/>
              </a:lnSpc>
              <a:buChar char="•"/>
              <a:tabLst>
                <a:tab pos="54927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Extra</a:t>
            </a:r>
            <a:r>
              <a:rPr sz="1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gradient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computation</a:t>
            </a:r>
            <a:endParaRPr sz="1400">
              <a:latin typeface="Calibri"/>
              <a:cs typeface="Calibri"/>
            </a:endParaRPr>
          </a:p>
          <a:p>
            <a:pPr marL="549275">
              <a:lnSpc>
                <a:spcPts val="1664"/>
              </a:lnSpc>
              <a:spcBef>
                <a:spcPts val="5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1400">
              <a:latin typeface="Calibri"/>
              <a:cs typeface="Calibri"/>
            </a:endParaRPr>
          </a:p>
          <a:p>
            <a:pPr marL="549275" indent="-342900">
              <a:lnSpc>
                <a:spcPts val="1650"/>
              </a:lnSpc>
              <a:buChar char="•"/>
              <a:tabLst>
                <a:tab pos="54927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Heavier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per-round</a:t>
            </a:r>
            <a:endParaRPr sz="1400">
              <a:latin typeface="Calibri"/>
              <a:cs typeface="Calibri"/>
            </a:endParaRPr>
          </a:p>
          <a:p>
            <a:pPr marL="549275">
              <a:lnSpc>
                <a:spcPts val="1664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computation</a:t>
            </a:r>
            <a:endParaRPr sz="1400">
              <a:latin typeface="Calibri"/>
              <a:cs typeface="Calibri"/>
            </a:endParaRPr>
          </a:p>
          <a:p>
            <a:pPr marL="549275" marR="525780" indent="-343535">
              <a:lnSpc>
                <a:spcPts val="1650"/>
              </a:lnSpc>
              <a:spcBef>
                <a:spcPts val="130"/>
              </a:spcBef>
              <a:buChar char="•"/>
              <a:tabLst>
                <a:tab pos="54927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achieves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final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1400">
              <a:latin typeface="Calibri"/>
              <a:cs typeface="Calibri"/>
            </a:endParaRPr>
          </a:p>
          <a:p>
            <a:pPr marL="549275" indent="-342900">
              <a:lnSpc>
                <a:spcPts val="1664"/>
              </a:lnSpc>
              <a:buChar char="•"/>
              <a:tabLst>
                <a:tab pos="54927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Worth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trade-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off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for</a:t>
            </a:r>
            <a:endParaRPr sz="1400">
              <a:latin typeface="Calibri"/>
              <a:cs typeface="Calibri"/>
            </a:endParaRPr>
          </a:p>
          <a:p>
            <a:pPr marL="549275">
              <a:lnSpc>
                <a:spcPts val="1664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38175"/>
          </a:xfrm>
          <a:custGeom>
            <a:avLst/>
            <a:gdLst/>
            <a:ahLst/>
            <a:cxnLst/>
            <a:rect l="l" t="t" r="r" b="b"/>
            <a:pathLst>
              <a:path w="9144000" h="638175">
                <a:moveTo>
                  <a:pt x="9144000" y="0"/>
                </a:moveTo>
                <a:lnTo>
                  <a:pt x="0" y="0"/>
                </a:lnTo>
                <a:lnTo>
                  <a:pt x="0" y="638175"/>
                </a:lnTo>
                <a:lnTo>
                  <a:pt x="9144000" y="638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160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Convergence</a:t>
            </a:r>
            <a:r>
              <a:rPr spc="270" dirty="0"/>
              <a:t> </a:t>
            </a:r>
            <a:r>
              <a:rPr dirty="0"/>
              <a:t>Analysis</a:t>
            </a:r>
            <a:r>
              <a:rPr spc="220" dirty="0"/>
              <a:t> </a:t>
            </a:r>
            <a:r>
              <a:rPr dirty="0"/>
              <a:t>—</a:t>
            </a:r>
            <a:r>
              <a:rPr spc="204" dirty="0"/>
              <a:t> </a:t>
            </a:r>
            <a:r>
              <a:rPr dirty="0"/>
              <a:t>Round-by-Round</a:t>
            </a:r>
            <a:r>
              <a:rPr spc="195" dirty="0"/>
              <a:t> </a:t>
            </a:r>
            <a:r>
              <a:rPr spc="-10" dirty="0"/>
              <a:t>Detail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19075" y="3067050"/>
            <a:ext cx="4348480" cy="1881505"/>
            <a:chOff x="219075" y="3067050"/>
            <a:chExt cx="4348480" cy="18815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075" y="3067050"/>
              <a:ext cx="4348226" cy="10144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6712" y="3157537"/>
              <a:ext cx="4114800" cy="781050"/>
            </a:xfrm>
            <a:custGeom>
              <a:avLst/>
              <a:gdLst/>
              <a:ahLst/>
              <a:cxnLst/>
              <a:rect l="l" t="t" r="r" b="b"/>
              <a:pathLst>
                <a:path w="4114800" h="781050">
                  <a:moveTo>
                    <a:pt x="411480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4114800" y="78105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ABD7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075" y="3933825"/>
              <a:ext cx="4348226" cy="1014412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657725" y="3067050"/>
            <a:ext cx="4348480" cy="1881505"/>
            <a:chOff x="4657725" y="3067050"/>
            <a:chExt cx="4348480" cy="18815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7725" y="3067050"/>
              <a:ext cx="4348226" cy="10144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7725" y="3933825"/>
              <a:ext cx="4348226" cy="101441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66712" y="4024312"/>
            <a:ext cx="4114800" cy="781050"/>
          </a:xfrm>
          <a:prstGeom prst="rect">
            <a:avLst/>
          </a:prstGeom>
          <a:solidFill>
            <a:srgbClr val="ABD7DF"/>
          </a:solidFill>
          <a:ln w="9525">
            <a:solidFill>
              <a:srgbClr val="0A4852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819"/>
              </a:spcBef>
            </a:pPr>
            <a:r>
              <a:rPr sz="1200" b="1" dirty="0">
                <a:solidFill>
                  <a:srgbClr val="007B86"/>
                </a:solidFill>
                <a:latin typeface="Calibri"/>
                <a:cs typeface="Calibri"/>
              </a:rPr>
              <a:t>Diminishing</a:t>
            </a:r>
            <a:r>
              <a:rPr sz="1200" b="1" spc="-10" dirty="0">
                <a:solidFill>
                  <a:srgbClr val="007B86"/>
                </a:solidFill>
                <a:latin typeface="Calibri"/>
                <a:cs typeface="Calibri"/>
              </a:rPr>
              <a:t> Returns:</a:t>
            </a:r>
            <a:endParaRPr sz="1200">
              <a:latin typeface="Calibri"/>
              <a:cs typeface="Calibri"/>
            </a:endParaRPr>
          </a:p>
          <a:p>
            <a:pPr marL="185420">
              <a:lnSpc>
                <a:spcPts val="1300"/>
              </a:lnSpc>
              <a:spcBef>
                <a:spcPts val="645"/>
              </a:spcBef>
            </a:pP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After</a:t>
            </a:r>
            <a:r>
              <a:rPr sz="1100" spc="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round</a:t>
            </a:r>
            <a:r>
              <a:rPr sz="11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3,</a:t>
            </a:r>
            <a:r>
              <a:rPr sz="11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all</a:t>
            </a:r>
            <a:r>
              <a:rPr sz="110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methods</a:t>
            </a:r>
            <a:r>
              <a:rPr sz="11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show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&lt;0.5%</a:t>
            </a:r>
            <a:r>
              <a:rPr sz="110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improvement</a:t>
            </a:r>
            <a:r>
              <a:rPr sz="11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per</a:t>
            </a:r>
            <a:r>
              <a:rPr sz="1100" spc="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round</a:t>
            </a:r>
            <a:r>
              <a:rPr sz="1100" spc="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E293A"/>
                </a:solidFill>
                <a:latin typeface="Calibri"/>
                <a:cs typeface="Calibri"/>
              </a:rPr>
              <a:t>—</a:t>
            </a:r>
            <a:endParaRPr sz="1100">
              <a:latin typeface="Calibri"/>
              <a:cs typeface="Calibri"/>
            </a:endParaRPr>
          </a:p>
          <a:p>
            <a:pPr marL="185420">
              <a:lnSpc>
                <a:spcPts val="1300"/>
              </a:lnSpc>
            </a:pP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indicating</a:t>
            </a:r>
            <a:r>
              <a:rPr sz="110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near-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convergence</a:t>
            </a:r>
            <a:r>
              <a:rPr sz="11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on</a:t>
            </a:r>
            <a:r>
              <a:rPr sz="1100" spc="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MNIST.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5426" y="4024312"/>
            <a:ext cx="4114800" cy="781050"/>
          </a:xfrm>
          <a:prstGeom prst="rect">
            <a:avLst/>
          </a:prstGeom>
          <a:solidFill>
            <a:srgbClr val="ABD7DF"/>
          </a:solidFill>
          <a:ln w="9525">
            <a:solidFill>
              <a:srgbClr val="0A4852"/>
            </a:solidFill>
          </a:ln>
        </p:spPr>
        <p:txBody>
          <a:bodyPr vert="horz" wrap="square" lIns="0" tIns="139065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95"/>
              </a:spcBef>
            </a:pPr>
            <a:r>
              <a:rPr sz="1200" b="1" dirty="0">
                <a:solidFill>
                  <a:srgbClr val="007B86"/>
                </a:solidFill>
                <a:latin typeface="Calibri"/>
                <a:cs typeface="Calibri"/>
              </a:rPr>
              <a:t>Loss</a:t>
            </a:r>
            <a:r>
              <a:rPr sz="1200" b="1" spc="-10" dirty="0">
                <a:solidFill>
                  <a:srgbClr val="007B86"/>
                </a:solidFill>
                <a:latin typeface="Calibri"/>
                <a:cs typeface="Calibri"/>
              </a:rPr>
              <a:t> Reduction:</a:t>
            </a:r>
            <a:endParaRPr sz="1200">
              <a:latin typeface="Calibri"/>
              <a:cs typeface="Calibri"/>
            </a:endParaRPr>
          </a:p>
          <a:p>
            <a:pPr marL="201295">
              <a:lnSpc>
                <a:spcPts val="1300"/>
              </a:lnSpc>
              <a:spcBef>
                <a:spcPts val="400"/>
              </a:spcBef>
            </a:pP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Both</a:t>
            </a:r>
            <a:r>
              <a:rPr sz="11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FL</a:t>
            </a:r>
            <a:r>
              <a:rPr sz="1100" spc="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methods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 reduce</a:t>
            </a:r>
            <a:r>
              <a:rPr sz="110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loss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 dramatically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 from</a:t>
            </a:r>
            <a:r>
              <a:rPr sz="11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0.14</a:t>
            </a:r>
            <a:r>
              <a:rPr sz="110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→</a:t>
            </a:r>
            <a:r>
              <a:rPr sz="110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0.006</a:t>
            </a:r>
            <a:r>
              <a:rPr sz="110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E293A"/>
                </a:solidFill>
                <a:latin typeface="Calibri"/>
                <a:cs typeface="Calibri"/>
              </a:rPr>
              <a:t>over</a:t>
            </a:r>
            <a:endParaRPr sz="1100">
              <a:latin typeface="Calibri"/>
              <a:cs typeface="Calibri"/>
            </a:endParaRPr>
          </a:p>
          <a:p>
            <a:pPr marL="201295">
              <a:lnSpc>
                <a:spcPts val="1300"/>
              </a:lnSpc>
            </a:pP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5</a:t>
            </a:r>
            <a:r>
              <a:rPr sz="11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rounds,</a:t>
            </a:r>
            <a:r>
              <a:rPr sz="11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demonstrating</a:t>
            </a:r>
            <a:r>
              <a:rPr sz="11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strong</a:t>
            </a:r>
            <a:r>
              <a:rPr sz="11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convergence</a:t>
            </a:r>
            <a:r>
              <a:rPr sz="110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behaviour.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0982" y="1153794"/>
            <a:ext cx="8401050" cy="800100"/>
            <a:chOff x="440982" y="1153794"/>
            <a:chExt cx="8401050" cy="800100"/>
          </a:xfrm>
        </p:grpSpPr>
        <p:sp>
          <p:nvSpPr>
            <p:cNvPr id="14" name="object 14"/>
            <p:cNvSpPr/>
            <p:nvPr/>
          </p:nvSpPr>
          <p:spPr>
            <a:xfrm>
              <a:off x="440982" y="1153794"/>
              <a:ext cx="8401050" cy="400050"/>
            </a:xfrm>
            <a:custGeom>
              <a:avLst/>
              <a:gdLst/>
              <a:ahLst/>
              <a:cxnLst/>
              <a:rect l="l" t="t" r="r" b="b"/>
              <a:pathLst>
                <a:path w="8401050" h="400050">
                  <a:moveTo>
                    <a:pt x="8401012" y="0"/>
                  </a:moveTo>
                  <a:lnTo>
                    <a:pt x="8401012" y="0"/>
                  </a:lnTo>
                  <a:lnTo>
                    <a:pt x="0" y="0"/>
                  </a:lnTo>
                  <a:lnTo>
                    <a:pt x="0" y="400050"/>
                  </a:lnTo>
                  <a:lnTo>
                    <a:pt x="8401012" y="400050"/>
                  </a:lnTo>
                  <a:lnTo>
                    <a:pt x="8401012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0982" y="1553844"/>
              <a:ext cx="8401050" cy="400050"/>
            </a:xfrm>
            <a:custGeom>
              <a:avLst/>
              <a:gdLst/>
              <a:ahLst/>
              <a:cxnLst/>
              <a:rect l="l" t="t" r="r" b="b"/>
              <a:pathLst>
                <a:path w="8401050" h="400050">
                  <a:moveTo>
                    <a:pt x="8401012" y="0"/>
                  </a:moveTo>
                  <a:lnTo>
                    <a:pt x="8401012" y="0"/>
                  </a:lnTo>
                  <a:lnTo>
                    <a:pt x="0" y="0"/>
                  </a:lnTo>
                  <a:lnTo>
                    <a:pt x="0" y="400050"/>
                  </a:lnTo>
                  <a:lnTo>
                    <a:pt x="8401012" y="400050"/>
                  </a:lnTo>
                  <a:lnTo>
                    <a:pt x="8401012" y="0"/>
                  </a:lnTo>
                  <a:close/>
                </a:path>
              </a:pathLst>
            </a:custGeom>
            <a:solidFill>
              <a:srgbClr val="EC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40982" y="2353945"/>
            <a:ext cx="8401050" cy="800100"/>
            <a:chOff x="440982" y="2353945"/>
            <a:chExt cx="8401050" cy="800100"/>
          </a:xfrm>
        </p:grpSpPr>
        <p:sp>
          <p:nvSpPr>
            <p:cNvPr id="17" name="object 17"/>
            <p:cNvSpPr/>
            <p:nvPr/>
          </p:nvSpPr>
          <p:spPr>
            <a:xfrm>
              <a:off x="440982" y="2353944"/>
              <a:ext cx="8401050" cy="400050"/>
            </a:xfrm>
            <a:custGeom>
              <a:avLst/>
              <a:gdLst/>
              <a:ahLst/>
              <a:cxnLst/>
              <a:rect l="l" t="t" r="r" b="b"/>
              <a:pathLst>
                <a:path w="8401050" h="400050">
                  <a:moveTo>
                    <a:pt x="8401012" y="0"/>
                  </a:moveTo>
                  <a:lnTo>
                    <a:pt x="8401012" y="0"/>
                  </a:lnTo>
                  <a:lnTo>
                    <a:pt x="0" y="0"/>
                  </a:lnTo>
                  <a:lnTo>
                    <a:pt x="0" y="400050"/>
                  </a:lnTo>
                  <a:lnTo>
                    <a:pt x="8401012" y="400050"/>
                  </a:lnTo>
                  <a:lnTo>
                    <a:pt x="8401012" y="0"/>
                  </a:lnTo>
                  <a:close/>
                </a:path>
              </a:pathLst>
            </a:custGeom>
            <a:solidFill>
              <a:srgbClr val="EC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0982" y="2753994"/>
              <a:ext cx="4200525" cy="400050"/>
            </a:xfrm>
            <a:custGeom>
              <a:avLst/>
              <a:gdLst/>
              <a:ahLst/>
              <a:cxnLst/>
              <a:rect l="l" t="t" r="r" b="b"/>
              <a:pathLst>
                <a:path w="4200525" h="400050">
                  <a:moveTo>
                    <a:pt x="4200487" y="0"/>
                  </a:moveTo>
                  <a:lnTo>
                    <a:pt x="2800312" y="0"/>
                  </a:lnTo>
                  <a:lnTo>
                    <a:pt x="1400175" y="0"/>
                  </a:lnTo>
                  <a:lnTo>
                    <a:pt x="0" y="0"/>
                  </a:lnTo>
                  <a:lnTo>
                    <a:pt x="0" y="400050"/>
                  </a:lnTo>
                  <a:lnTo>
                    <a:pt x="1400136" y="400050"/>
                  </a:lnTo>
                  <a:lnTo>
                    <a:pt x="2800312" y="400050"/>
                  </a:lnTo>
                  <a:lnTo>
                    <a:pt x="4200487" y="400050"/>
                  </a:lnTo>
                  <a:lnTo>
                    <a:pt x="4200487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61950" y="748982"/>
          <a:ext cx="8553448" cy="3183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"/>
                <a:gridCol w="1400175"/>
                <a:gridCol w="1400175"/>
                <a:gridCol w="1240155"/>
                <a:gridCol w="160020"/>
                <a:gridCol w="163829"/>
                <a:gridCol w="1236345"/>
                <a:gridCol w="1400175"/>
                <a:gridCol w="1400175"/>
                <a:gridCol w="78104"/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AD4E0"/>
                      </a:solidFill>
                      <a:prstDash val="solid"/>
                    </a:ln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Round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018090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FedAvg</a:t>
                      </a:r>
                      <a:r>
                        <a:rPr sz="11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01809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FedProx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Acc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0180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Central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0180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FedAvg</a:t>
                      </a:r>
                      <a:r>
                        <a:rPr sz="11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01809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FedProx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01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0"/>
                      </a:solidFill>
                      <a:prstDash val="solid"/>
                    </a:lnL>
                    <a:solidFill>
                      <a:srgbClr val="EF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AD4E0"/>
                      </a:solidFill>
                      <a:prstDash val="solid"/>
                    </a:ln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R="6064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b="1" spc="-25" dirty="0">
                          <a:solidFill>
                            <a:srgbClr val="0D1B3D"/>
                          </a:solidFill>
                          <a:latin typeface="Calibri"/>
                          <a:cs typeface="Calibri"/>
                        </a:rPr>
                        <a:t>R1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R="47434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96.56%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96.67%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95.22%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514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0.1409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0.1356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0"/>
                      </a:solidFill>
                      <a:prstDash val="solid"/>
                    </a:lnL>
                    <a:solidFill>
                      <a:srgbClr val="EFF4F8"/>
                    </a:solidFill>
                  </a:tcPr>
                </a:tc>
              </a:tr>
              <a:tr h="399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AD4E0"/>
                      </a:solidFill>
                      <a:prstDash val="solid"/>
                    </a:ln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R="60642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b="1" spc="-25" dirty="0">
                          <a:solidFill>
                            <a:srgbClr val="0D1B3D"/>
                          </a:solidFill>
                          <a:latin typeface="Calibri"/>
                          <a:cs typeface="Calibri"/>
                        </a:rPr>
                        <a:t>R2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marR="47434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98.64%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98.77%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98.34%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514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0.0551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0.0518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0"/>
                      </a:solidFill>
                      <a:prstDash val="solid"/>
                    </a:lnL>
                    <a:solidFill>
                      <a:srgbClr val="EF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AD4E0"/>
                      </a:solidFill>
                      <a:prstDash val="solid"/>
                    </a:ln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R="60579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25" dirty="0">
                          <a:solidFill>
                            <a:srgbClr val="0D1B3D"/>
                          </a:solidFill>
                          <a:latin typeface="Calibri"/>
                          <a:cs typeface="Calibri"/>
                        </a:rPr>
                        <a:t>R3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R="47498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99.48%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99.45%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98.90%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514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0.0266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0.0252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0"/>
                      </a:solidFill>
                      <a:prstDash val="solid"/>
                    </a:lnL>
                    <a:solidFill>
                      <a:srgbClr val="EF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AD4E0"/>
                      </a:solidFill>
                      <a:prstDash val="solid"/>
                    </a:ln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R="60642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spc="-25" dirty="0">
                          <a:solidFill>
                            <a:srgbClr val="0D1B3D"/>
                          </a:solidFill>
                          <a:latin typeface="Calibri"/>
                          <a:cs typeface="Calibri"/>
                        </a:rPr>
                        <a:t>R4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marR="47434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99.77%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99.82%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99.30%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514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0.0139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0.0123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0"/>
                      </a:solidFill>
                      <a:prstDash val="solid"/>
                    </a:lnL>
                    <a:solidFill>
                      <a:srgbClr val="EF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AD4E0"/>
                      </a:solidFill>
                      <a:prstDash val="solid"/>
                    </a:lnR>
                    <a:lnB w="9525">
                      <a:solidFill>
                        <a:srgbClr val="0A48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642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b="1" spc="-25" dirty="0">
                          <a:solidFill>
                            <a:srgbClr val="0D1B3D"/>
                          </a:solidFill>
                          <a:latin typeface="Calibri"/>
                          <a:cs typeface="Calibri"/>
                        </a:rPr>
                        <a:t>R5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19050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434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99.88%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19050">
                      <a:solidFill>
                        <a:srgbClr val="CAD4E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99.95%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19050">
                      <a:solidFill>
                        <a:srgbClr val="CAD4E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99.57%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19050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514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0.0078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19050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0.0060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19050">
                      <a:solidFill>
                        <a:srgbClr val="CAD4E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0"/>
                      </a:solidFill>
                      <a:prstDash val="solid"/>
                    </a:lnL>
                    <a:lnB w="9525">
                      <a:solidFill>
                        <a:srgbClr val="0A4852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784225">
                <a:tc gridSpan="4"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solidFill>
                            <a:srgbClr val="007B86"/>
                          </a:solidFill>
                          <a:latin typeface="Calibri"/>
                          <a:cs typeface="Calibri"/>
                        </a:rPr>
                        <a:t>Rapid</a:t>
                      </a:r>
                      <a:r>
                        <a:rPr sz="1200" b="1" spc="-25" dirty="0">
                          <a:solidFill>
                            <a:srgbClr val="007B8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007B86"/>
                          </a:solidFill>
                          <a:latin typeface="Calibri"/>
                          <a:cs typeface="Calibri"/>
                        </a:rPr>
                        <a:t>Early</a:t>
                      </a:r>
                      <a:r>
                        <a:rPr sz="1200" b="1" spc="-20" dirty="0">
                          <a:solidFill>
                            <a:srgbClr val="007B8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07B86"/>
                          </a:solidFill>
                          <a:latin typeface="Calibri"/>
                          <a:cs typeface="Calibri"/>
                        </a:rPr>
                        <a:t>Gains: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00025" marR="177165">
                        <a:lnSpc>
                          <a:spcPts val="1280"/>
                        </a:lnSpc>
                        <a:spcBef>
                          <a:spcPts val="480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1100" spc="3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methods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jump from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~95%</a:t>
                      </a:r>
                      <a:r>
                        <a:rPr sz="1100" spc="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3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~98-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99%</a:t>
                      </a:r>
                      <a:r>
                        <a:rPr sz="1100" spc="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in just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100" spc="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rounds/epochs,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showing</a:t>
                      </a:r>
                      <a:r>
                        <a:rPr sz="1100" spc="-3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MNIST</a:t>
                      </a:r>
                      <a:r>
                        <a:rPr sz="1100" spc="3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task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well-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suited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these</a:t>
                      </a:r>
                      <a:r>
                        <a:rPr sz="1100" spc="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architectures.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0A4852"/>
                      </a:solidFill>
                      <a:prstDash val="solid"/>
                    </a:lnL>
                    <a:lnR w="9525">
                      <a:solidFill>
                        <a:srgbClr val="0A4852"/>
                      </a:solidFill>
                      <a:prstDash val="solid"/>
                    </a:lnR>
                    <a:lnT w="9525" cap="flat" cmpd="sng" algn="ctr">
                      <a:solidFill>
                        <a:srgbClr val="0A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A485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A4852"/>
                      </a:solidFill>
                      <a:prstDash val="solid"/>
                    </a:lnL>
                    <a:lnR w="9525">
                      <a:solidFill>
                        <a:srgbClr val="0A4852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spc="-10" dirty="0">
                          <a:solidFill>
                            <a:srgbClr val="007B86"/>
                          </a:solidFill>
                          <a:latin typeface="Calibri"/>
                          <a:cs typeface="Calibri"/>
                        </a:rPr>
                        <a:t>FedProx Stability: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01295" marR="236854">
                        <a:lnSpc>
                          <a:spcPts val="1280"/>
                        </a:lnSpc>
                        <a:spcBef>
                          <a:spcPts val="480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FedProx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achieves</a:t>
                      </a:r>
                      <a:r>
                        <a:rPr sz="11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slightly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higher</a:t>
                      </a:r>
                      <a:r>
                        <a:rPr sz="1100" spc="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every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round</a:t>
                      </a:r>
                      <a:r>
                        <a:rPr sz="1100" spc="-3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due</a:t>
                      </a:r>
                      <a:r>
                        <a:rPr sz="1100" spc="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3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proximal term</a:t>
                      </a:r>
                      <a:r>
                        <a:rPr sz="1100" spc="-4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reducing</a:t>
                      </a:r>
                      <a:r>
                        <a:rPr sz="1100" spc="-4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sz="1100" spc="-4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weight</a:t>
                      </a:r>
                      <a:r>
                        <a:rPr sz="1100" spc="-4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divergence.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0A4852"/>
                      </a:solidFill>
                      <a:prstDash val="solid"/>
                    </a:lnL>
                    <a:lnR w="9525">
                      <a:solidFill>
                        <a:srgbClr val="0A4852"/>
                      </a:solidFill>
                      <a:prstDash val="solid"/>
                    </a:lnR>
                    <a:lnT w="19050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0A4852"/>
                      </a:solidFill>
                      <a:prstDash val="solid"/>
                    </a:lnB>
                    <a:solidFill>
                      <a:srgbClr val="ABD7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638175"/>
              <a:ext cx="9144000" cy="4505325"/>
            </a:xfrm>
            <a:custGeom>
              <a:avLst/>
              <a:gdLst/>
              <a:ahLst/>
              <a:cxnLst/>
              <a:rect l="l" t="t" r="r" b="b"/>
              <a:pathLst>
                <a:path w="9144000" h="4505325">
                  <a:moveTo>
                    <a:pt x="0" y="4505324"/>
                  </a:moveTo>
                  <a:lnTo>
                    <a:pt x="9144000" y="450532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505324"/>
                  </a:lnTo>
                  <a:close/>
                </a:path>
              </a:pathLst>
            </a:custGeom>
            <a:solidFill>
              <a:srgbClr val="D0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38175"/>
            </a:xfrm>
            <a:custGeom>
              <a:avLst/>
              <a:gdLst/>
              <a:ahLst/>
              <a:cxnLst/>
              <a:rect l="l" t="t" r="r" b="b"/>
              <a:pathLst>
                <a:path w="9144000" h="638175">
                  <a:moveTo>
                    <a:pt x="9144000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9144000" y="6381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140" dirty="0"/>
              <a:t> </a:t>
            </a:r>
            <a:r>
              <a:rPr dirty="0"/>
              <a:t>Observations</a:t>
            </a:r>
            <a:r>
              <a:rPr spc="175" dirty="0"/>
              <a:t> </a:t>
            </a:r>
            <a:r>
              <a:rPr dirty="0"/>
              <a:t>&amp;</a:t>
            </a:r>
            <a:r>
              <a:rPr spc="150" dirty="0"/>
              <a:t> </a:t>
            </a:r>
            <a:r>
              <a:rPr spc="-10" dirty="0"/>
              <a:t>Findings</a:t>
            </a:r>
          </a:p>
        </p:txBody>
      </p:sp>
      <p:sp>
        <p:nvSpPr>
          <p:cNvPr id="6" name="object 6"/>
          <p:cNvSpPr/>
          <p:nvPr/>
        </p:nvSpPr>
        <p:spPr>
          <a:xfrm>
            <a:off x="361950" y="146685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0" y="228600"/>
                </a:moveTo>
                <a:lnTo>
                  <a:pt x="552450" y="228600"/>
                </a:lnTo>
                <a:lnTo>
                  <a:pt x="552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0B4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1950" y="78105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0" y="228600"/>
                </a:moveTo>
                <a:lnTo>
                  <a:pt x="552450" y="228600"/>
                </a:lnTo>
                <a:lnTo>
                  <a:pt x="552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0B4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1950" y="1009650"/>
            <a:ext cx="552450" cy="45720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114300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900"/>
              </a:spcBef>
            </a:pPr>
            <a:r>
              <a:rPr sz="1400" b="1" spc="-25" dirty="0">
                <a:solidFill>
                  <a:srgbClr val="1E293A"/>
                </a:solidFill>
                <a:latin typeface="Georgia"/>
                <a:cs typeface="Georgia"/>
              </a:rPr>
              <a:t>01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4412" y="785876"/>
            <a:ext cx="7772400" cy="914400"/>
          </a:xfrm>
          <a:prstGeom prst="rect">
            <a:avLst/>
          </a:prstGeom>
          <a:solidFill>
            <a:srgbClr val="FFFFFF">
              <a:alpha val="10195"/>
            </a:srgbClr>
          </a:solidFill>
          <a:ln w="28575">
            <a:solidFill>
              <a:srgbClr val="00B4D3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660"/>
              </a:spcBef>
            </a:pPr>
            <a:r>
              <a:rPr sz="950" b="1" spc="-10" dirty="0">
                <a:solidFill>
                  <a:srgbClr val="01C2DB"/>
                </a:solidFill>
                <a:latin typeface="Calibri"/>
                <a:cs typeface="Calibri"/>
              </a:rPr>
              <a:t>Accuracy</a:t>
            </a:r>
            <a:endParaRPr sz="95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560"/>
              </a:spcBef>
            </a:pP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Federated</a:t>
            </a:r>
            <a:r>
              <a:rPr sz="1250" b="1" spc="140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&gt;</a:t>
            </a:r>
            <a:r>
              <a:rPr sz="1250" b="1" spc="7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spc="-10" dirty="0">
                <a:solidFill>
                  <a:srgbClr val="1E293A"/>
                </a:solidFill>
                <a:latin typeface="Georgia"/>
                <a:cs typeface="Georgia"/>
              </a:rPr>
              <a:t>Centralized</a:t>
            </a:r>
            <a:endParaRPr sz="1250">
              <a:latin typeface="Georgia"/>
              <a:cs typeface="Georgia"/>
            </a:endParaRPr>
          </a:p>
          <a:p>
            <a:pPr marL="220979" marR="1270635">
              <a:lnSpc>
                <a:spcPct val="101299"/>
              </a:lnSpc>
              <a:spcBef>
                <a:spcPts val="355"/>
              </a:spcBef>
            </a:pP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Both</a:t>
            </a:r>
            <a:r>
              <a:rPr sz="105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FedAvg</a:t>
            </a:r>
            <a:r>
              <a:rPr sz="105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(99.88%)</a:t>
            </a:r>
            <a:r>
              <a:rPr sz="105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050" spc="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FedProx</a:t>
            </a:r>
            <a:r>
              <a:rPr sz="105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(99.95%)</a:t>
            </a:r>
            <a:r>
              <a:rPr sz="1050" spc="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surpassed</a:t>
            </a:r>
            <a:r>
              <a:rPr sz="1050" spc="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Centralized</a:t>
            </a:r>
            <a:r>
              <a:rPr sz="105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training</a:t>
            </a:r>
            <a:r>
              <a:rPr sz="105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(99.57%).</a:t>
            </a:r>
            <a:r>
              <a:rPr sz="1050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This</a:t>
            </a:r>
            <a:r>
              <a:rPr sz="105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050" spc="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because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FL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 exposes</a:t>
            </a:r>
            <a:r>
              <a:rPr sz="105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1E293A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05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more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diverse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050" spc="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distributions</a:t>
            </a:r>
            <a:r>
              <a:rPr sz="105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across</a:t>
            </a:r>
            <a:r>
              <a:rPr sz="105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clients.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1950" y="251460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0" y="228600"/>
                </a:moveTo>
                <a:lnTo>
                  <a:pt x="552450" y="228600"/>
                </a:lnTo>
                <a:lnTo>
                  <a:pt x="552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49F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1950" y="182880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0" y="228600"/>
                </a:moveTo>
                <a:lnTo>
                  <a:pt x="552450" y="228600"/>
                </a:lnTo>
                <a:lnTo>
                  <a:pt x="552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49F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1950" y="2057400"/>
            <a:ext cx="552450" cy="45720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120015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945"/>
              </a:spcBef>
            </a:pPr>
            <a:r>
              <a:rPr sz="1400" b="1" spc="-25" dirty="0">
                <a:solidFill>
                  <a:srgbClr val="1E293A"/>
                </a:solidFill>
                <a:latin typeface="Georgia"/>
                <a:cs typeface="Georgia"/>
              </a:rPr>
              <a:t>02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4412" y="1833626"/>
            <a:ext cx="7772400" cy="914400"/>
          </a:xfrm>
          <a:prstGeom prst="rect">
            <a:avLst/>
          </a:prstGeom>
          <a:solidFill>
            <a:srgbClr val="FFFFFF">
              <a:alpha val="10195"/>
            </a:srgbClr>
          </a:solidFill>
          <a:ln w="28575">
            <a:solidFill>
              <a:srgbClr val="049FB5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710"/>
              </a:spcBef>
            </a:pPr>
            <a:r>
              <a:rPr sz="950" b="1" spc="-10" dirty="0">
                <a:solidFill>
                  <a:srgbClr val="01C39A"/>
                </a:solidFill>
                <a:latin typeface="Calibri"/>
                <a:cs typeface="Calibri"/>
              </a:rPr>
              <a:t>Privacy</a:t>
            </a:r>
            <a:endParaRPr sz="95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550"/>
              </a:spcBef>
            </a:pP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Privacy</a:t>
            </a:r>
            <a:r>
              <a:rPr sz="1250" b="1" spc="6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at</a:t>
            </a:r>
            <a:r>
              <a:rPr sz="1250" b="1" spc="50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a</a:t>
            </a:r>
            <a:r>
              <a:rPr sz="1250" b="1" spc="110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spc="-20" dirty="0">
                <a:solidFill>
                  <a:srgbClr val="1E293A"/>
                </a:solidFill>
                <a:latin typeface="Georgia"/>
                <a:cs typeface="Georgia"/>
              </a:rPr>
              <a:t>Cost</a:t>
            </a:r>
            <a:endParaRPr sz="1250">
              <a:latin typeface="Georgia"/>
              <a:cs typeface="Georgia"/>
            </a:endParaRPr>
          </a:p>
          <a:p>
            <a:pPr marL="220979" marR="1711325">
              <a:lnSpc>
                <a:spcPct val="101400"/>
              </a:lnSpc>
              <a:spcBef>
                <a:spcPts val="360"/>
              </a:spcBef>
            </a:pP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Federated</a:t>
            </a:r>
            <a:r>
              <a:rPr sz="105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methods</a:t>
            </a:r>
            <a:r>
              <a:rPr sz="105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take</a:t>
            </a:r>
            <a:r>
              <a:rPr sz="105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1.8–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2.1×</a:t>
            </a:r>
            <a:r>
              <a:rPr sz="105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longer</a:t>
            </a:r>
            <a:r>
              <a:rPr sz="105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than</a:t>
            </a:r>
            <a:r>
              <a:rPr sz="105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centralized</a:t>
            </a:r>
            <a:r>
              <a:rPr sz="105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1E293A"/>
                </a:solidFill>
                <a:latin typeface="Calibri"/>
                <a:cs typeface="Calibri"/>
              </a:rPr>
              <a:t>due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05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communication</a:t>
            </a:r>
            <a:r>
              <a:rPr sz="105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overhead</a:t>
            </a:r>
            <a:r>
              <a:rPr sz="105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05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multi-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round aggregation.</a:t>
            </a:r>
            <a:r>
              <a:rPr sz="105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This</a:t>
            </a:r>
            <a:r>
              <a:rPr sz="105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05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fundamental</a:t>
            </a:r>
            <a:r>
              <a:rPr sz="1050" spc="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trade-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off</a:t>
            </a:r>
            <a:r>
              <a:rPr sz="105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of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 privacy-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preserving</a:t>
            </a:r>
            <a:r>
              <a:rPr sz="1050" spc="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1E293A"/>
                </a:solidFill>
                <a:latin typeface="Calibri"/>
                <a:cs typeface="Calibri"/>
              </a:rPr>
              <a:t>FL.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1950" y="356235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0" y="228600"/>
                </a:moveTo>
                <a:lnTo>
                  <a:pt x="552450" y="228600"/>
                </a:lnTo>
                <a:lnTo>
                  <a:pt x="552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07B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1950" y="287655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0" y="228600"/>
                </a:moveTo>
                <a:lnTo>
                  <a:pt x="552450" y="228600"/>
                </a:lnTo>
                <a:lnTo>
                  <a:pt x="552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07B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-552450" y="1243076"/>
            <a:ext cx="552450" cy="45720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12573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990"/>
              </a:spcBef>
            </a:pPr>
            <a:r>
              <a:rPr sz="1400" b="1" spc="-25" dirty="0">
                <a:solidFill>
                  <a:srgbClr val="1E293A"/>
                </a:solidFill>
                <a:latin typeface="Georgia"/>
                <a:cs typeface="Georgia"/>
              </a:rPr>
              <a:t>03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4412" y="2881376"/>
            <a:ext cx="7772400" cy="914400"/>
          </a:xfrm>
          <a:prstGeom prst="rect">
            <a:avLst/>
          </a:prstGeom>
          <a:solidFill>
            <a:srgbClr val="FFFFFF">
              <a:alpha val="10195"/>
            </a:srgbClr>
          </a:solidFill>
          <a:ln w="28575">
            <a:solidFill>
              <a:srgbClr val="007B86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750"/>
              </a:spcBef>
            </a:pPr>
            <a:r>
              <a:rPr sz="950" b="1" spc="-10" dirty="0">
                <a:solidFill>
                  <a:srgbClr val="F4A160"/>
                </a:solidFill>
                <a:latin typeface="Calibri"/>
                <a:cs typeface="Calibri"/>
              </a:rPr>
              <a:t>Strategy</a:t>
            </a:r>
            <a:endParaRPr sz="95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560"/>
              </a:spcBef>
            </a:pP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FedProx</a:t>
            </a:r>
            <a:r>
              <a:rPr sz="1250" b="1" spc="16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Wins</a:t>
            </a:r>
            <a:r>
              <a:rPr sz="1250" b="1" spc="19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on</a:t>
            </a:r>
            <a:r>
              <a:rPr sz="1250" b="1" spc="9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non-</a:t>
            </a:r>
            <a:r>
              <a:rPr sz="1250" b="1" spc="-25" dirty="0">
                <a:solidFill>
                  <a:srgbClr val="1E293A"/>
                </a:solidFill>
                <a:latin typeface="Georgia"/>
                <a:cs typeface="Georgia"/>
              </a:rPr>
              <a:t>IID</a:t>
            </a:r>
            <a:endParaRPr sz="1250">
              <a:latin typeface="Georgia"/>
              <a:cs typeface="Georgia"/>
            </a:endParaRPr>
          </a:p>
          <a:p>
            <a:pPr marL="220979" marR="1233170">
              <a:lnSpc>
                <a:spcPct val="101299"/>
              </a:lnSpc>
              <a:spcBef>
                <a:spcPts val="355"/>
              </a:spcBef>
            </a:pP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When</a:t>
            </a:r>
            <a:r>
              <a:rPr sz="105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05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05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heterogeneous</a:t>
            </a:r>
            <a:r>
              <a:rPr sz="105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(non-IID),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FedProx's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proximal</a:t>
            </a:r>
            <a:r>
              <a:rPr sz="105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regularisation</a:t>
            </a:r>
            <a:r>
              <a:rPr sz="105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prevents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client</a:t>
            </a:r>
            <a:r>
              <a:rPr sz="105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drift,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leading</a:t>
            </a:r>
            <a:r>
              <a:rPr sz="1050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05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more</a:t>
            </a:r>
            <a:r>
              <a:rPr sz="105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stable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05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higher</a:t>
            </a:r>
            <a:r>
              <a:rPr sz="105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final</a:t>
            </a:r>
            <a:r>
              <a:rPr sz="105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accuracy</a:t>
            </a:r>
            <a:r>
              <a:rPr sz="105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than</a:t>
            </a:r>
            <a:r>
              <a:rPr sz="105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FedAvg.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1950" y="4619625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0" y="228600"/>
                </a:moveTo>
                <a:lnTo>
                  <a:pt x="552450" y="228600"/>
                </a:lnTo>
                <a:lnTo>
                  <a:pt x="552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188B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1950" y="3933825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0" y="228600"/>
                </a:moveTo>
                <a:lnTo>
                  <a:pt x="552450" y="228600"/>
                </a:lnTo>
                <a:lnTo>
                  <a:pt x="552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188B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1950" y="4162425"/>
            <a:ext cx="552450" cy="45720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121920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960"/>
              </a:spcBef>
            </a:pPr>
            <a:r>
              <a:rPr sz="1400" b="1" spc="-25" dirty="0">
                <a:solidFill>
                  <a:srgbClr val="1E293A"/>
                </a:solidFill>
                <a:latin typeface="Georgia"/>
                <a:cs typeface="Georgia"/>
              </a:rPr>
              <a:t>04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4412" y="3938587"/>
            <a:ext cx="7772400" cy="914400"/>
          </a:xfrm>
          <a:prstGeom prst="rect">
            <a:avLst/>
          </a:prstGeom>
          <a:solidFill>
            <a:srgbClr val="FFFFFF">
              <a:alpha val="10195"/>
            </a:srgbClr>
          </a:solidFill>
          <a:ln w="28575">
            <a:solidFill>
              <a:srgbClr val="01606D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725"/>
              </a:spcBef>
            </a:pPr>
            <a:r>
              <a:rPr sz="950" b="1" dirty="0">
                <a:solidFill>
                  <a:srgbClr val="A78AF9"/>
                </a:solidFill>
                <a:latin typeface="Calibri"/>
                <a:cs typeface="Calibri"/>
              </a:rPr>
              <a:t>Trade-</a:t>
            </a:r>
            <a:r>
              <a:rPr sz="950" b="1" spc="-25" dirty="0">
                <a:solidFill>
                  <a:srgbClr val="A78AF9"/>
                </a:solidFill>
                <a:latin typeface="Calibri"/>
                <a:cs typeface="Calibri"/>
              </a:rPr>
              <a:t>off</a:t>
            </a:r>
            <a:endParaRPr sz="950" dirty="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555"/>
              </a:spcBef>
            </a:pP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FedAvg</a:t>
            </a:r>
            <a:r>
              <a:rPr sz="1250" b="1" spc="4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is</a:t>
            </a:r>
            <a:r>
              <a:rPr sz="1250" b="1" spc="60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the</a:t>
            </a:r>
            <a:r>
              <a:rPr sz="1250" b="1" spc="150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dirty="0">
                <a:solidFill>
                  <a:srgbClr val="1E293A"/>
                </a:solidFill>
                <a:latin typeface="Georgia"/>
                <a:cs typeface="Georgia"/>
              </a:rPr>
              <a:t>Sweet</a:t>
            </a:r>
            <a:r>
              <a:rPr sz="1250" b="1" spc="140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250" b="1" spc="-20" dirty="0">
                <a:solidFill>
                  <a:srgbClr val="1E293A"/>
                </a:solidFill>
                <a:latin typeface="Georgia"/>
                <a:cs typeface="Georgia"/>
              </a:rPr>
              <a:t>Spot</a:t>
            </a:r>
            <a:endParaRPr sz="1250" dirty="0">
              <a:latin typeface="Georgia"/>
              <a:cs typeface="Georgia"/>
            </a:endParaRPr>
          </a:p>
          <a:p>
            <a:pPr marL="220979" marR="1918335">
              <a:lnSpc>
                <a:spcPct val="101400"/>
              </a:lnSpc>
              <a:spcBef>
                <a:spcPts val="355"/>
              </a:spcBef>
            </a:pP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FedAvg</a:t>
            </a:r>
            <a:r>
              <a:rPr sz="105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provides</a:t>
            </a:r>
            <a:r>
              <a:rPr sz="105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05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best</a:t>
            </a:r>
            <a:r>
              <a:rPr sz="105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balance:</a:t>
            </a:r>
            <a:r>
              <a:rPr sz="105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strong</a:t>
            </a:r>
            <a:r>
              <a:rPr sz="105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accuracy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(99.88%),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privacy-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safe,</a:t>
            </a:r>
            <a:r>
              <a:rPr sz="1050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15%</a:t>
            </a:r>
            <a:r>
              <a:rPr sz="105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faster</a:t>
            </a:r>
            <a:r>
              <a:rPr sz="105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than</a:t>
            </a:r>
            <a:r>
              <a:rPr sz="1050" spc="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FedProx.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Recommended</a:t>
            </a:r>
            <a:r>
              <a:rPr sz="105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when</a:t>
            </a:r>
            <a:r>
              <a:rPr sz="105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05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approximately </a:t>
            </a:r>
            <a:r>
              <a:rPr sz="1050" spc="-20" dirty="0">
                <a:solidFill>
                  <a:srgbClr val="1E293A"/>
                </a:solidFill>
                <a:latin typeface="Calibri"/>
                <a:cs typeface="Calibri"/>
              </a:rPr>
              <a:t>IID.</a:t>
            </a:r>
            <a:endParaRPr sz="10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38175"/>
          </a:xfrm>
          <a:custGeom>
            <a:avLst/>
            <a:gdLst/>
            <a:ahLst/>
            <a:cxnLst/>
            <a:rect l="l" t="t" r="r" b="b"/>
            <a:pathLst>
              <a:path w="9144000" h="638175">
                <a:moveTo>
                  <a:pt x="9144000" y="0"/>
                </a:moveTo>
                <a:lnTo>
                  <a:pt x="0" y="0"/>
                </a:lnTo>
                <a:lnTo>
                  <a:pt x="0" y="638175"/>
                </a:lnTo>
                <a:lnTo>
                  <a:pt x="9144000" y="638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160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spc="-10" dirty="0"/>
              <a:t>Conclusion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075" y="695261"/>
            <a:ext cx="8653526" cy="11477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6712" y="785876"/>
            <a:ext cx="8420100" cy="914400"/>
          </a:xfrm>
          <a:prstGeom prst="rect">
            <a:avLst/>
          </a:prstGeom>
          <a:solidFill>
            <a:srgbClr val="ABD7DF"/>
          </a:solidFill>
          <a:ln w="9525">
            <a:solidFill>
              <a:srgbClr val="0A4852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Times New Roman"/>
              <a:cs typeface="Times New Roman"/>
            </a:endParaRPr>
          </a:p>
          <a:p>
            <a:pPr marL="273685" marR="286385">
              <a:lnSpc>
                <a:spcPts val="1430"/>
              </a:lnSpc>
            </a:pP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This</a:t>
            </a:r>
            <a:r>
              <a:rPr sz="1200" i="1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project</a:t>
            </a:r>
            <a:r>
              <a:rPr sz="1200" i="1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successfully demonstrated</a:t>
            </a:r>
            <a:r>
              <a:rPr sz="1200" i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federated</a:t>
            </a:r>
            <a:r>
              <a:rPr sz="1200" i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learning</a:t>
            </a:r>
            <a:r>
              <a:rPr sz="1200" i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simulation</a:t>
            </a:r>
            <a:r>
              <a:rPr sz="1200" i="1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using</a:t>
            </a:r>
            <a:r>
              <a:rPr sz="1200" i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200" i="1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Flower</a:t>
            </a:r>
            <a:r>
              <a:rPr sz="1200" i="1" spc="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20" dirty="0">
                <a:solidFill>
                  <a:srgbClr val="1E293A"/>
                </a:solidFill>
                <a:latin typeface="Calibri"/>
                <a:cs typeface="Calibri"/>
              </a:rPr>
              <a:t>(FLwr)</a:t>
            </a:r>
            <a:r>
              <a:rPr sz="1200" i="1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framework</a:t>
            </a:r>
            <a:r>
              <a:rPr sz="1200" i="1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on</a:t>
            </a:r>
            <a:r>
              <a:rPr sz="1200" i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20" dirty="0">
                <a:solidFill>
                  <a:srgbClr val="1E293A"/>
                </a:solidFill>
                <a:latin typeface="Calibri"/>
                <a:cs typeface="Calibri"/>
              </a:rPr>
              <a:t>MNIST.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 Both</a:t>
            </a:r>
            <a:r>
              <a:rPr sz="1200" i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FedAvg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200" i="1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FedProx</a:t>
            </a:r>
            <a:r>
              <a:rPr sz="1200" i="1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achieved</a:t>
            </a:r>
            <a:r>
              <a:rPr sz="1200" i="1" spc="-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state-of-the-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art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 accuracy</a:t>
            </a:r>
            <a:r>
              <a:rPr sz="1200" i="1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while</a:t>
            </a:r>
            <a:r>
              <a:rPr sz="1200" i="1" spc="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maintaining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 a</a:t>
            </a:r>
            <a:r>
              <a:rPr sz="1200" i="1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fully</a:t>
            </a:r>
            <a:r>
              <a:rPr sz="1200" i="1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decentralized,</a:t>
            </a:r>
            <a:r>
              <a:rPr sz="1200" i="1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privacy-preserving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training</a:t>
            </a:r>
            <a:r>
              <a:rPr sz="1200" i="1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E293A"/>
                </a:solidFill>
                <a:latin typeface="Calibri"/>
                <a:cs typeface="Calibri"/>
              </a:rPr>
              <a:t>paradigm.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075" y="1790700"/>
            <a:ext cx="4348226" cy="13286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6712" y="1881251"/>
            <a:ext cx="4114800" cy="1095375"/>
          </a:xfrm>
          <a:prstGeom prst="rect">
            <a:avLst/>
          </a:prstGeom>
          <a:solidFill>
            <a:srgbClr val="ABD7DF"/>
          </a:solidFill>
          <a:ln w="9525">
            <a:solidFill>
              <a:srgbClr val="0A4852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670"/>
              </a:spcBef>
            </a:pPr>
            <a:r>
              <a:rPr sz="1400" b="1" dirty="0">
                <a:solidFill>
                  <a:srgbClr val="01606D"/>
                </a:solidFill>
                <a:latin typeface="Calibri"/>
                <a:cs typeface="Calibri"/>
              </a:rPr>
              <a:t>Highest</a:t>
            </a:r>
            <a:r>
              <a:rPr sz="1400" b="1" spc="-2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1606D"/>
                </a:solidFill>
                <a:latin typeface="Calibri"/>
                <a:cs typeface="Calibri"/>
              </a:rPr>
              <a:t>Accuracy</a:t>
            </a:r>
            <a:endParaRPr sz="140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  <a:spcBef>
                <a:spcPts val="590"/>
              </a:spcBef>
            </a:pPr>
            <a:r>
              <a:rPr sz="1700" b="1" dirty="0">
                <a:solidFill>
                  <a:srgbClr val="1E293A"/>
                </a:solidFill>
                <a:latin typeface="Georgia"/>
                <a:cs typeface="Georgia"/>
              </a:rPr>
              <a:t>FedProx:</a:t>
            </a:r>
            <a:r>
              <a:rPr sz="1700" b="1" spc="-4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1E293A"/>
                </a:solidFill>
                <a:latin typeface="Georgia"/>
                <a:cs typeface="Georgia"/>
              </a:rPr>
              <a:t>99.95%</a:t>
            </a:r>
            <a:endParaRPr sz="1700">
              <a:latin typeface="Georgia"/>
              <a:cs typeface="Georgia"/>
            </a:endParaRPr>
          </a:p>
          <a:p>
            <a:pPr marL="227965">
              <a:lnSpc>
                <a:spcPct val="100000"/>
              </a:lnSpc>
              <a:spcBef>
                <a:spcPts val="1210"/>
              </a:spcBef>
            </a:pP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Best</a:t>
            </a:r>
            <a:r>
              <a:rPr sz="1100" spc="-4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accuracy</a:t>
            </a:r>
            <a:r>
              <a:rPr sz="1100" spc="-2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all three </a:t>
            </a:r>
            <a:r>
              <a:rPr sz="1100" spc="-10" dirty="0">
                <a:solidFill>
                  <a:srgbClr val="01606D"/>
                </a:solidFill>
                <a:latin typeface="Calibri"/>
                <a:cs typeface="Calibri"/>
              </a:rPr>
              <a:t>methods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7725" y="1790700"/>
            <a:ext cx="4348226" cy="13286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05426" y="1881251"/>
            <a:ext cx="4114800" cy="1095375"/>
          </a:xfrm>
          <a:prstGeom prst="rect">
            <a:avLst/>
          </a:prstGeom>
          <a:solidFill>
            <a:srgbClr val="ABD7DF"/>
          </a:solidFill>
          <a:ln w="9525">
            <a:solidFill>
              <a:srgbClr val="0A4852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670"/>
              </a:spcBef>
            </a:pPr>
            <a:r>
              <a:rPr sz="1400" b="1" spc="-10" dirty="0">
                <a:solidFill>
                  <a:srgbClr val="01606D"/>
                </a:solidFill>
                <a:latin typeface="Calibri"/>
                <a:cs typeface="Calibri"/>
              </a:rPr>
              <a:t>Fastest</a:t>
            </a:r>
            <a:r>
              <a:rPr sz="1400" b="1" spc="-4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1606D"/>
                </a:solidFill>
                <a:latin typeface="Calibri"/>
                <a:cs typeface="Calibri"/>
              </a:rPr>
              <a:t>Training</a:t>
            </a:r>
            <a:endParaRPr sz="14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590"/>
              </a:spcBef>
            </a:pPr>
            <a:r>
              <a:rPr sz="1700" b="1" dirty="0">
                <a:solidFill>
                  <a:srgbClr val="1E293A"/>
                </a:solidFill>
                <a:latin typeface="Georgia"/>
                <a:cs typeface="Georgia"/>
              </a:rPr>
              <a:t>Centralized:</a:t>
            </a:r>
            <a:r>
              <a:rPr sz="1700" b="1" spc="-5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1E293A"/>
                </a:solidFill>
                <a:latin typeface="Georgia"/>
                <a:cs typeface="Georgia"/>
              </a:rPr>
              <a:t>82.44s</a:t>
            </a:r>
            <a:endParaRPr sz="1700">
              <a:latin typeface="Georgia"/>
              <a:cs typeface="Georgia"/>
            </a:endParaRPr>
          </a:p>
          <a:p>
            <a:pPr marL="228600">
              <a:lnSpc>
                <a:spcPct val="100000"/>
              </a:lnSpc>
              <a:spcBef>
                <a:spcPts val="1210"/>
              </a:spcBef>
            </a:pP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No</a:t>
            </a:r>
            <a:r>
              <a:rPr sz="1100" spc="2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1606D"/>
                </a:solidFill>
                <a:latin typeface="Calibri"/>
                <a:cs typeface="Calibri"/>
              </a:rPr>
              <a:t>communication</a:t>
            </a:r>
            <a:r>
              <a:rPr sz="1100" spc="2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1606D"/>
                </a:solidFill>
                <a:latin typeface="Calibri"/>
                <a:cs typeface="Calibri"/>
              </a:rPr>
              <a:t>overhead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075" y="3019488"/>
            <a:ext cx="4348226" cy="13381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6712" y="3109912"/>
            <a:ext cx="4114800" cy="1104900"/>
          </a:xfrm>
          <a:prstGeom prst="rect">
            <a:avLst/>
          </a:prstGeom>
          <a:solidFill>
            <a:srgbClr val="ABD7DF"/>
          </a:solidFill>
          <a:ln w="9525">
            <a:solidFill>
              <a:srgbClr val="0A4852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730"/>
              </a:spcBef>
            </a:pPr>
            <a:r>
              <a:rPr sz="1400" b="1" dirty="0">
                <a:solidFill>
                  <a:srgbClr val="01606D"/>
                </a:solidFill>
                <a:latin typeface="Calibri"/>
                <a:cs typeface="Calibri"/>
              </a:rPr>
              <a:t>Best</a:t>
            </a:r>
            <a:r>
              <a:rPr sz="1400" b="1" spc="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400" b="1" spc="-30" dirty="0">
                <a:solidFill>
                  <a:srgbClr val="01606D"/>
                </a:solidFill>
                <a:latin typeface="Calibri"/>
                <a:cs typeface="Calibri"/>
              </a:rPr>
              <a:t>Trade-</a:t>
            </a:r>
            <a:r>
              <a:rPr sz="1400" b="1" spc="-25" dirty="0">
                <a:solidFill>
                  <a:srgbClr val="01606D"/>
                </a:solidFill>
                <a:latin typeface="Calibri"/>
                <a:cs typeface="Calibri"/>
              </a:rPr>
              <a:t>off</a:t>
            </a:r>
            <a:endParaRPr sz="140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  <a:spcBef>
                <a:spcPts val="595"/>
              </a:spcBef>
            </a:pPr>
            <a:r>
              <a:rPr sz="1700" b="1" dirty="0">
                <a:solidFill>
                  <a:srgbClr val="1E293A"/>
                </a:solidFill>
                <a:latin typeface="Georgia"/>
                <a:cs typeface="Georgia"/>
              </a:rPr>
              <a:t>FedAvg:</a:t>
            </a:r>
            <a:r>
              <a:rPr sz="1700" b="1" spc="-80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1E293A"/>
                </a:solidFill>
                <a:latin typeface="Georgia"/>
                <a:cs typeface="Georgia"/>
              </a:rPr>
              <a:t>99.88%</a:t>
            </a:r>
            <a:endParaRPr sz="1700">
              <a:latin typeface="Georgia"/>
              <a:cs typeface="Georgia"/>
            </a:endParaRPr>
          </a:p>
          <a:p>
            <a:pPr marL="227965">
              <a:lnSpc>
                <a:spcPct val="100000"/>
              </a:lnSpc>
              <a:spcBef>
                <a:spcPts val="1205"/>
              </a:spcBef>
            </a:pP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Strong</a:t>
            </a:r>
            <a:r>
              <a:rPr sz="1100" spc="-2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accuracy</a:t>
            </a:r>
            <a:r>
              <a:rPr sz="1100" spc="-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+</a:t>
            </a:r>
            <a:r>
              <a:rPr sz="1100" spc="-5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privacy</a:t>
            </a:r>
            <a:r>
              <a:rPr sz="1100" spc="-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+</a:t>
            </a:r>
            <a:r>
              <a:rPr sz="1100" spc="2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1606D"/>
                </a:solidFill>
                <a:latin typeface="Calibri"/>
                <a:cs typeface="Calibri"/>
              </a:rPr>
              <a:t>speed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57725" y="3019488"/>
            <a:ext cx="4348226" cy="13381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805426" y="3109912"/>
            <a:ext cx="4114800" cy="1104900"/>
          </a:xfrm>
          <a:prstGeom prst="rect">
            <a:avLst/>
          </a:prstGeom>
          <a:solidFill>
            <a:srgbClr val="ABD7DF"/>
          </a:solidFill>
          <a:ln w="9525">
            <a:solidFill>
              <a:srgbClr val="0A4852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730"/>
              </a:spcBef>
            </a:pPr>
            <a:r>
              <a:rPr sz="1400" b="1" dirty="0">
                <a:solidFill>
                  <a:srgbClr val="01606D"/>
                </a:solidFill>
                <a:latin typeface="Calibri"/>
                <a:cs typeface="Calibri"/>
              </a:rPr>
              <a:t>Privacy</a:t>
            </a:r>
            <a:r>
              <a:rPr sz="1400" b="1" spc="-3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1606D"/>
                </a:solidFill>
                <a:latin typeface="Calibri"/>
                <a:cs typeface="Calibri"/>
              </a:rPr>
              <a:t>Winner</a:t>
            </a:r>
            <a:endParaRPr sz="14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595"/>
              </a:spcBef>
            </a:pPr>
            <a:r>
              <a:rPr sz="1700" b="1" dirty="0">
                <a:solidFill>
                  <a:srgbClr val="1E293A"/>
                </a:solidFill>
                <a:latin typeface="Georgia"/>
                <a:cs typeface="Georgia"/>
              </a:rPr>
              <a:t>Both</a:t>
            </a:r>
            <a:r>
              <a:rPr sz="1700" b="1" spc="-5" dirty="0">
                <a:solidFill>
                  <a:srgbClr val="1E293A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1E293A"/>
                </a:solidFill>
                <a:latin typeface="Georgia"/>
                <a:cs typeface="Georgia"/>
              </a:rPr>
              <a:t>FL</a:t>
            </a:r>
            <a:r>
              <a:rPr sz="1700" b="1" spc="-10" dirty="0">
                <a:solidFill>
                  <a:srgbClr val="1E293A"/>
                </a:solidFill>
                <a:latin typeface="Georgia"/>
                <a:cs typeface="Georgia"/>
              </a:rPr>
              <a:t> methods</a:t>
            </a:r>
            <a:endParaRPr sz="1700">
              <a:latin typeface="Georgia"/>
              <a:cs typeface="Georgia"/>
            </a:endParaRPr>
          </a:p>
          <a:p>
            <a:pPr marL="228600">
              <a:lnSpc>
                <a:spcPct val="100000"/>
              </a:lnSpc>
              <a:spcBef>
                <a:spcPts val="1205"/>
              </a:spcBef>
            </a:pP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Data</a:t>
            </a:r>
            <a:r>
              <a:rPr sz="1100" spc="-5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never</a:t>
            </a:r>
            <a:r>
              <a:rPr sz="1100" spc="2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leaves</a:t>
            </a:r>
            <a:r>
              <a:rPr sz="1100" spc="-2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the</a:t>
            </a:r>
            <a:r>
              <a:rPr sz="1100" spc="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1606D"/>
                </a:solidFill>
                <a:latin typeface="Calibri"/>
                <a:cs typeface="Calibri"/>
              </a:rPr>
              <a:t>client</a:t>
            </a:r>
            <a:r>
              <a:rPr sz="1100" spc="4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1606D"/>
                </a:solidFill>
                <a:latin typeface="Calibri"/>
                <a:cs typeface="Calibri"/>
              </a:rPr>
              <a:t>device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1950" y="4438650"/>
            <a:ext cx="8429625" cy="504825"/>
            <a:chOff x="361950" y="4438650"/>
            <a:chExt cx="8429625" cy="504825"/>
          </a:xfrm>
        </p:grpSpPr>
        <p:sp>
          <p:nvSpPr>
            <p:cNvPr id="15" name="object 15"/>
            <p:cNvSpPr/>
            <p:nvPr/>
          </p:nvSpPr>
          <p:spPr>
            <a:xfrm>
              <a:off x="366712" y="4443412"/>
              <a:ext cx="8420100" cy="495300"/>
            </a:xfrm>
            <a:custGeom>
              <a:avLst/>
              <a:gdLst/>
              <a:ahLst/>
              <a:cxnLst/>
              <a:rect l="l" t="t" r="r" b="b"/>
              <a:pathLst>
                <a:path w="8420100" h="495300">
                  <a:moveTo>
                    <a:pt x="8420100" y="0"/>
                  </a:moveTo>
                  <a:lnTo>
                    <a:pt x="0" y="0"/>
                  </a:lnTo>
                  <a:lnTo>
                    <a:pt x="0" y="495300"/>
                  </a:lnTo>
                  <a:lnTo>
                    <a:pt x="8420100" y="495300"/>
                  </a:lnTo>
                  <a:lnTo>
                    <a:pt x="8420100" y="0"/>
                  </a:lnTo>
                  <a:close/>
                </a:path>
              </a:pathLst>
            </a:custGeom>
            <a:solidFill>
              <a:srgbClr val="188B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6712" y="4443412"/>
              <a:ext cx="8420100" cy="495300"/>
            </a:xfrm>
            <a:custGeom>
              <a:avLst/>
              <a:gdLst/>
              <a:ahLst/>
              <a:cxnLst/>
              <a:rect l="l" t="t" r="r" b="b"/>
              <a:pathLst>
                <a:path w="8420100" h="495300">
                  <a:moveTo>
                    <a:pt x="0" y="495300"/>
                  </a:moveTo>
                  <a:lnTo>
                    <a:pt x="8420100" y="495300"/>
                  </a:lnTo>
                  <a:lnTo>
                    <a:pt x="8420100" y="0"/>
                  </a:lnTo>
                  <a:lnTo>
                    <a:pt x="0" y="0"/>
                  </a:lnTo>
                  <a:lnTo>
                    <a:pt x="0" y="495300"/>
                  </a:lnTo>
                  <a:close/>
                </a:path>
              </a:pathLst>
            </a:custGeom>
            <a:ln w="9525">
              <a:solidFill>
                <a:srgbClr val="0A4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52450" y="4514850"/>
            <a:ext cx="8039100" cy="34290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0" rIns="0" bIns="0" rtlCol="0">
            <a:spAutoFit/>
          </a:bodyPr>
          <a:lstStyle/>
          <a:p>
            <a:pPr marL="20320" algn="ctr">
              <a:lnSpc>
                <a:spcPts val="1350"/>
              </a:lnSpc>
            </a:pP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For</a:t>
            </a:r>
            <a:r>
              <a:rPr sz="1200" i="1" spc="-6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applications</a:t>
            </a:r>
            <a:r>
              <a:rPr sz="1200" i="1" spc="-2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requiring</a:t>
            </a:r>
            <a:r>
              <a:rPr sz="1200" i="1" spc="-6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strict</a:t>
            </a:r>
            <a:r>
              <a:rPr sz="1200" i="1" spc="-2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data</a:t>
            </a:r>
            <a:r>
              <a:rPr sz="1200" i="1" spc="-1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privacy, FedProx</a:t>
            </a:r>
            <a:r>
              <a:rPr sz="1200" i="1" spc="-4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is</a:t>
            </a:r>
            <a:r>
              <a:rPr sz="1200" i="1" spc="-1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the</a:t>
            </a:r>
            <a:r>
              <a:rPr sz="1200" i="1" spc="-4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best</a:t>
            </a:r>
            <a:r>
              <a:rPr sz="1200" i="1" spc="-2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approach.</a:t>
            </a:r>
            <a:r>
              <a:rPr sz="1200" i="1" spc="1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FedAvg</a:t>
            </a:r>
            <a:r>
              <a:rPr sz="1200" i="1" spc="-3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is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ideal</a:t>
            </a:r>
            <a:r>
              <a:rPr sz="1200" i="1" spc="3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when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data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is</a:t>
            </a:r>
            <a:r>
              <a:rPr sz="1200" i="1" spc="-7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IID</a:t>
            </a:r>
            <a:r>
              <a:rPr sz="1200" i="1" spc="2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and</a:t>
            </a:r>
            <a:r>
              <a:rPr sz="1200" i="1" spc="-1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training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speed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spc="-25" dirty="0">
                <a:solidFill>
                  <a:srgbClr val="01606D"/>
                </a:solidFill>
                <a:latin typeface="Calibri"/>
                <a:cs typeface="Calibri"/>
              </a:rPr>
              <a:t>is</a:t>
            </a:r>
            <a:endParaRPr sz="1200">
              <a:latin typeface="Calibri"/>
              <a:cs typeface="Calibri"/>
            </a:endParaRPr>
          </a:p>
          <a:p>
            <a:pPr marL="8890" algn="ctr">
              <a:lnSpc>
                <a:spcPts val="1350"/>
              </a:lnSpc>
            </a:pPr>
            <a:r>
              <a:rPr sz="1200" i="1" dirty="0">
                <a:solidFill>
                  <a:srgbClr val="01606D"/>
                </a:solidFill>
                <a:latin typeface="Calibri"/>
                <a:cs typeface="Calibri"/>
              </a:rPr>
              <a:t>a</a:t>
            </a:r>
            <a:r>
              <a:rPr sz="1200" i="1" spc="1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01606D"/>
                </a:solidFill>
                <a:latin typeface="Calibri"/>
                <a:cs typeface="Calibri"/>
              </a:rPr>
              <a:t>priority.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638175"/>
              <a:ext cx="9144000" cy="4505325"/>
            </a:xfrm>
            <a:custGeom>
              <a:avLst/>
              <a:gdLst/>
              <a:ahLst/>
              <a:cxnLst/>
              <a:rect l="l" t="t" r="r" b="b"/>
              <a:pathLst>
                <a:path w="9144000" h="4505325">
                  <a:moveTo>
                    <a:pt x="0" y="4505324"/>
                  </a:moveTo>
                  <a:lnTo>
                    <a:pt x="9144000" y="450532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505324"/>
                  </a:lnTo>
                  <a:close/>
                </a:path>
              </a:pathLst>
            </a:custGeom>
            <a:solidFill>
              <a:srgbClr val="D0E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38175"/>
            </a:xfrm>
            <a:custGeom>
              <a:avLst/>
              <a:gdLst/>
              <a:ahLst/>
              <a:cxnLst/>
              <a:rect l="l" t="t" r="r" b="b"/>
              <a:pathLst>
                <a:path w="9144000" h="638175">
                  <a:moveTo>
                    <a:pt x="9144000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9144000" y="6381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GitHub</a:t>
            </a:r>
            <a:r>
              <a:rPr spc="190" dirty="0"/>
              <a:t> </a:t>
            </a:r>
            <a:r>
              <a:rPr dirty="0"/>
              <a:t>Repository</a:t>
            </a:r>
            <a:r>
              <a:rPr spc="135" dirty="0"/>
              <a:t> </a:t>
            </a:r>
            <a:r>
              <a:rPr dirty="0"/>
              <a:t>&amp;</a:t>
            </a:r>
            <a:r>
              <a:rPr spc="155" dirty="0"/>
              <a:t> </a:t>
            </a:r>
            <a:r>
              <a:rPr dirty="0"/>
              <a:t>Thank</a:t>
            </a:r>
            <a:r>
              <a:rPr spc="140" dirty="0"/>
              <a:t> </a:t>
            </a:r>
            <a:r>
              <a:rPr spc="-25" dirty="0"/>
              <a:t>You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228725" y="828611"/>
            <a:ext cx="6624955" cy="1138555"/>
            <a:chOff x="1228725" y="828611"/>
            <a:chExt cx="6624955" cy="11385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8725" y="828611"/>
              <a:ext cx="6624701" cy="113823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71600" y="914400"/>
              <a:ext cx="6400800" cy="914400"/>
            </a:xfrm>
            <a:custGeom>
              <a:avLst/>
              <a:gdLst/>
              <a:ahLst/>
              <a:cxnLst/>
              <a:rect l="l" t="t" r="r" b="b"/>
              <a:pathLst>
                <a:path w="6400800" h="914400">
                  <a:moveTo>
                    <a:pt x="640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400800" y="91440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66850" y="1009650"/>
            <a:ext cx="6210300" cy="72390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469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endParaRPr sz="1400">
              <a:latin typeface="Times New Roman"/>
              <a:cs typeface="Times New Roman"/>
            </a:endParaRPr>
          </a:p>
          <a:p>
            <a:pPr marL="252729">
              <a:lnSpc>
                <a:spcPct val="100000"/>
              </a:lnSpc>
            </a:pPr>
            <a:r>
              <a:rPr sz="1400" spc="-10" dirty="0">
                <a:solidFill>
                  <a:srgbClr val="1E293A"/>
                </a:solidFill>
                <a:latin typeface="Consolas"/>
                <a:cs typeface="Consolas"/>
              </a:rPr>
              <a:t>github.com/zainabsaleem2004444-star/FederatedLearning-</a:t>
            </a:r>
            <a:r>
              <a:rPr sz="1400" spc="-20" dirty="0">
                <a:solidFill>
                  <a:srgbClr val="1E293A"/>
                </a:solidFill>
                <a:latin typeface="Consolas"/>
                <a:cs typeface="Consolas"/>
              </a:rPr>
              <a:t>FLwr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4825" y="2190750"/>
            <a:ext cx="3838575" cy="352425"/>
          </a:xfrm>
          <a:prstGeom prst="rect">
            <a:avLst/>
          </a:prstGeom>
          <a:solidFill>
            <a:srgbClr val="188B9C"/>
          </a:solidFill>
        </p:spPr>
        <p:txBody>
          <a:bodyPr vert="horz" wrap="square" lIns="0" tIns="685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540"/>
              </a:spcBef>
            </a:pPr>
            <a:r>
              <a:rPr sz="1400" b="1" dirty="0">
                <a:solidFill>
                  <a:srgbClr val="FFFFFF"/>
                </a:solidFill>
                <a:latin typeface="Georgia"/>
                <a:cs typeface="Georgia"/>
              </a:rPr>
              <a:t>Tehreem</a:t>
            </a:r>
            <a:r>
              <a:rPr sz="14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Georgia"/>
                <a:cs typeface="Georgia"/>
              </a:rPr>
              <a:t>Ejaz</a:t>
            </a:r>
            <a:r>
              <a:rPr sz="1400" b="1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Georgia"/>
                <a:cs typeface="Georgia"/>
              </a:rPr>
              <a:t>(089)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712" y="2109851"/>
            <a:ext cx="4114800" cy="1047750"/>
          </a:xfrm>
          <a:prstGeom prst="rect">
            <a:avLst/>
          </a:prstGeom>
          <a:solidFill>
            <a:srgbClr val="FFFFFF">
              <a:alpha val="10195"/>
            </a:srgbClr>
          </a:solidFill>
          <a:ln w="9525">
            <a:solidFill>
              <a:srgbClr val="01809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Server</a:t>
            </a:r>
            <a:r>
              <a:rPr sz="1200" spc="-3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setup</a:t>
            </a:r>
            <a:r>
              <a:rPr sz="1200" spc="-1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+</a:t>
            </a:r>
            <a:r>
              <a:rPr sz="1200" spc="1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1606D"/>
                </a:solidFill>
                <a:latin typeface="Calibri"/>
                <a:cs typeface="Calibri"/>
              </a:rPr>
              <a:t>FedAvg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33950" y="2190750"/>
            <a:ext cx="3848100" cy="352425"/>
          </a:xfrm>
          <a:prstGeom prst="rect">
            <a:avLst/>
          </a:prstGeom>
          <a:solidFill>
            <a:srgbClr val="188B9C"/>
          </a:solidFill>
        </p:spPr>
        <p:txBody>
          <a:bodyPr vert="horz" wrap="square" lIns="0" tIns="6858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540"/>
              </a:spcBef>
            </a:pPr>
            <a:r>
              <a:rPr sz="1400" b="1" dirty="0">
                <a:solidFill>
                  <a:srgbClr val="FFFFFF"/>
                </a:solidFill>
                <a:latin typeface="Georgia"/>
                <a:cs typeface="Georgia"/>
              </a:rPr>
              <a:t>Zainab</a:t>
            </a:r>
            <a:r>
              <a:rPr sz="14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Georgia"/>
                <a:cs typeface="Georgia"/>
              </a:rPr>
              <a:t>Saleem</a:t>
            </a:r>
            <a:r>
              <a:rPr sz="14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Georgia"/>
                <a:cs typeface="Georgia"/>
              </a:rPr>
              <a:t>(093)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05426" y="2109851"/>
            <a:ext cx="4114800" cy="1047750"/>
          </a:xfrm>
          <a:prstGeom prst="rect">
            <a:avLst/>
          </a:prstGeom>
          <a:solidFill>
            <a:srgbClr val="FFFFFF">
              <a:alpha val="10195"/>
            </a:srgbClr>
          </a:solidFill>
          <a:ln w="9525">
            <a:solidFill>
              <a:srgbClr val="01809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Client</a:t>
            </a:r>
            <a:r>
              <a:rPr sz="1200" spc="-20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code</a:t>
            </a:r>
            <a:r>
              <a:rPr sz="1200" spc="-6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+</a:t>
            </a:r>
            <a:r>
              <a:rPr sz="1200" spc="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Data</a:t>
            </a:r>
            <a:r>
              <a:rPr sz="1200" spc="2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1606D"/>
                </a:solidFill>
                <a:latin typeface="Calibri"/>
                <a:cs typeface="Calibri"/>
              </a:rPr>
              <a:t>split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4825" y="3381375"/>
            <a:ext cx="3838575" cy="352425"/>
          </a:xfrm>
          <a:prstGeom prst="rect">
            <a:avLst/>
          </a:prstGeom>
          <a:solidFill>
            <a:srgbClr val="188B9C"/>
          </a:solidFill>
        </p:spPr>
        <p:txBody>
          <a:bodyPr vert="horz" wrap="square" lIns="0" tIns="6921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545"/>
              </a:spcBef>
            </a:pPr>
            <a:r>
              <a:rPr sz="1400" b="1" dirty="0">
                <a:solidFill>
                  <a:srgbClr val="FFFFFF"/>
                </a:solidFill>
                <a:latin typeface="Georgia"/>
                <a:cs typeface="Georgia"/>
              </a:rPr>
              <a:t>Malaika</a:t>
            </a:r>
            <a:r>
              <a:rPr sz="1400" b="1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Georgia"/>
                <a:cs typeface="Georgia"/>
              </a:rPr>
              <a:t>Arooj</a:t>
            </a:r>
            <a:r>
              <a:rPr sz="14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Georgia"/>
                <a:cs typeface="Georgia"/>
              </a:rPr>
              <a:t>(057)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6712" y="3300412"/>
            <a:ext cx="4114800" cy="1047750"/>
          </a:xfrm>
          <a:prstGeom prst="rect">
            <a:avLst/>
          </a:prstGeom>
          <a:solidFill>
            <a:srgbClr val="FFFFFF">
              <a:alpha val="10195"/>
            </a:srgbClr>
          </a:solidFill>
          <a:ln w="9525">
            <a:solidFill>
              <a:srgbClr val="01809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</a:pPr>
            <a:r>
              <a:rPr sz="1200" spc="-10" dirty="0">
                <a:solidFill>
                  <a:srgbClr val="01606D"/>
                </a:solidFill>
                <a:latin typeface="Calibri"/>
                <a:cs typeface="Calibri"/>
              </a:rPr>
              <a:t>FedProx </a:t>
            </a: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+</a:t>
            </a:r>
            <a:r>
              <a:rPr sz="1200" spc="-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Comparison</a:t>
            </a:r>
            <a:r>
              <a:rPr sz="1200" spc="-3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1606D"/>
                </a:solidFill>
                <a:latin typeface="Calibri"/>
                <a:cs typeface="Calibri"/>
              </a:rPr>
              <a:t>plots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33950" y="3381375"/>
            <a:ext cx="3848100" cy="352425"/>
          </a:xfrm>
          <a:prstGeom prst="rect">
            <a:avLst/>
          </a:prstGeom>
          <a:solidFill>
            <a:srgbClr val="188B9C"/>
          </a:solidFill>
        </p:spPr>
        <p:txBody>
          <a:bodyPr vert="horz" wrap="square" lIns="0" tIns="6921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545"/>
              </a:spcBef>
            </a:pPr>
            <a:r>
              <a:rPr sz="1400" b="1" dirty="0">
                <a:solidFill>
                  <a:srgbClr val="FFFFFF"/>
                </a:solidFill>
                <a:latin typeface="Georgia"/>
                <a:cs typeface="Georgia"/>
              </a:rPr>
              <a:t>Maryam</a:t>
            </a:r>
            <a:r>
              <a:rPr sz="1400" b="1" spc="-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Georgia"/>
                <a:cs typeface="Georgia"/>
              </a:rPr>
              <a:t>(061)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5426" y="3300412"/>
            <a:ext cx="4114800" cy="1047750"/>
          </a:xfrm>
          <a:prstGeom prst="rect">
            <a:avLst/>
          </a:prstGeom>
          <a:solidFill>
            <a:srgbClr val="FFFFFF">
              <a:alpha val="10195"/>
            </a:srgbClr>
          </a:solidFill>
          <a:ln w="9525">
            <a:solidFill>
              <a:srgbClr val="01809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Report</a:t>
            </a:r>
            <a:r>
              <a:rPr sz="1200" spc="-1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1606D"/>
                </a:solidFill>
                <a:latin typeface="Calibri"/>
                <a:cs typeface="Calibri"/>
              </a:rPr>
              <a:t>+</a:t>
            </a:r>
            <a:r>
              <a:rPr sz="1200" spc="-55" dirty="0">
                <a:solidFill>
                  <a:srgbClr val="01606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1606D"/>
                </a:solidFill>
                <a:latin typeface="Calibri"/>
                <a:cs typeface="Calibri"/>
              </a:rPr>
              <a:t>Presentation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28800" y="4619625"/>
            <a:ext cx="5486400" cy="361950"/>
          </a:xfrm>
          <a:custGeom>
            <a:avLst/>
            <a:gdLst/>
            <a:ahLst/>
            <a:cxnLst/>
            <a:rect l="l" t="t" r="r" b="b"/>
            <a:pathLst>
              <a:path w="5486400" h="361950">
                <a:moveTo>
                  <a:pt x="5486400" y="0"/>
                </a:moveTo>
                <a:lnTo>
                  <a:pt x="0" y="0"/>
                </a:lnTo>
                <a:lnTo>
                  <a:pt x="0" y="361950"/>
                </a:lnTo>
                <a:lnTo>
                  <a:pt x="5486400" y="361950"/>
                </a:lnTo>
                <a:lnTo>
                  <a:pt x="5486400" y="0"/>
                </a:lnTo>
                <a:close/>
              </a:path>
            </a:pathLst>
          </a:custGeom>
          <a:solidFill>
            <a:srgbClr val="018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24050" y="4667250"/>
            <a:ext cx="5295900" cy="266700"/>
          </a:xfrm>
          <a:prstGeom prst="rect">
            <a:avLst/>
          </a:prstGeom>
          <a:solidFill>
            <a:srgbClr val="ABD7DF"/>
          </a:solidFill>
        </p:spPr>
        <p:txBody>
          <a:bodyPr vert="horz" wrap="square" lIns="0" tIns="52704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414"/>
              </a:spcBef>
            </a:pP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BCS-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VI(A)</a:t>
            </a:r>
            <a:r>
              <a:rPr sz="1050" spc="1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·</a:t>
            </a:r>
            <a:r>
              <a:rPr sz="1050" spc="2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Parallel</a:t>
            </a:r>
            <a:r>
              <a:rPr sz="105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&amp; Distributed</a:t>
            </a:r>
            <a:r>
              <a:rPr sz="1050" spc="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Computing</a:t>
            </a:r>
            <a:r>
              <a:rPr sz="1050" spc="2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·</a:t>
            </a:r>
            <a:r>
              <a:rPr sz="1050" spc="1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Presentation:</a:t>
            </a:r>
            <a:r>
              <a:rPr sz="105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2</a:t>
            </a:r>
            <a:r>
              <a:rPr sz="105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E293A"/>
                </a:solidFill>
                <a:latin typeface="Calibri"/>
                <a:cs typeface="Calibri"/>
              </a:rPr>
              <a:t>June,</a:t>
            </a:r>
            <a:r>
              <a:rPr sz="1050" spc="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1E293A"/>
                </a:solidFill>
                <a:latin typeface="Calibri"/>
                <a:cs typeface="Calibri"/>
              </a:rPr>
              <a:t>2026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1495</Words>
  <Application>Microsoft Office PowerPoint</Application>
  <PresentationFormat>On-screen Show (16:9)</PresentationFormat>
  <Paragraphs>343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Federated Learning Simulation Using Flower (FLwr) Framework</vt:lpstr>
      <vt:lpstr>What is Federated Learning?</vt:lpstr>
      <vt:lpstr>Why Federated Learning?</vt:lpstr>
      <vt:lpstr>How Federated Learning Works — The FL Training Cycle</vt:lpstr>
      <vt:lpstr>FedAvg vs FedProx</vt:lpstr>
      <vt:lpstr>FedAvg vs FedProx</vt:lpstr>
      <vt:lpstr>Centralized Training — The Baseline Approach</vt:lpstr>
      <vt:lpstr>Experimental Setup &amp; Tools</vt:lpstr>
      <vt:lpstr>Dataset — MNIST &amp; Data Partitioning Strategy</vt:lpstr>
      <vt:lpstr>PowerPoint Presentation</vt:lpstr>
      <vt:lpstr>Final Performance Summary — All Methods</vt:lpstr>
      <vt:lpstr>Final Performance Summary — All Methods</vt:lpstr>
      <vt:lpstr>Speed Analysis — Training Time &amp; Overhead</vt:lpstr>
      <vt:lpstr>Convergence Analysis — Round-by-Round Detail</vt:lpstr>
      <vt:lpstr>Key Observations &amp; Findings</vt:lpstr>
      <vt:lpstr>Conclusion</vt:lpstr>
      <vt:lpstr>GitHub Repository &amp;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Learning Simulation Using Flower (FLwr) Framework</dc:title>
  <dc:creator>Maryam</dc:creator>
  <cp:lastModifiedBy>Maryam</cp:lastModifiedBy>
  <cp:revision>1</cp:revision>
  <dcterms:created xsi:type="dcterms:W3CDTF">2026-04-27T17:15:48Z</dcterms:created>
  <dcterms:modified xsi:type="dcterms:W3CDTF">2026-04-27T17:19:25Z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2026-04-27T00:00:00Z</vt:filetime>
  </property>
  <property fmtid="{D5CDD505-2E9C-101B-9397-08002B2CF9AE}" pid="4" name="LastSaved">
    <vt:filetime>2026-04-27T00:00:00Z</vt:filetime>
  </property>
</Properties>
</file>